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Caveat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Caveat-regular.fntdata"/><Relationship Id="rId10" Type="http://schemas.openxmlformats.org/officeDocument/2006/relationships/slide" Target="slides/slide5.xml"/><Relationship Id="rId12" Type="http://schemas.openxmlformats.org/officeDocument/2006/relationships/font" Target="fonts/Caveat-bold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de120c8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de120c8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de120c85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de120c85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de120c85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de120c85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de120c85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de120c85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8E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66666" y="407661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FC5BD"/>
                </a:solidFill>
                <a:latin typeface="Caveat"/>
                <a:ea typeface="Caveat"/>
                <a:cs typeface="Caveat"/>
                <a:sym typeface="Caveat"/>
              </a:rPr>
              <a:t>An AI Guided Crisis Support Companion</a:t>
            </a:r>
            <a:endParaRPr sz="2400">
              <a:solidFill>
                <a:srgbClr val="6FC5BD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55" name="Google Shape;55;p13" title="CalmStepLo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489" y="343919"/>
            <a:ext cx="4117275" cy="388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2231050" y="4055344"/>
            <a:ext cx="4582800" cy="681300"/>
          </a:xfrm>
          <a:prstGeom prst="rect">
            <a:avLst/>
          </a:prstGeom>
          <a:noFill/>
          <a:ln cap="flat" cmpd="sng" w="38100">
            <a:solidFill>
              <a:srgbClr val="8568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68C80"/>
                </a:solidFill>
              </a:rPr>
              <a:t>Problem Statement	</a:t>
            </a:r>
            <a:endParaRPr>
              <a:solidFill>
                <a:srgbClr val="168C80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26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56886"/>
                </a:solidFill>
              </a:rPr>
              <a:t>The Problem</a:t>
            </a:r>
            <a:endParaRPr b="1">
              <a:solidFill>
                <a:srgbClr val="85688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Millions of people struggle with anxiety panic symptoms, or emotional overwhelm, yet over half never </a:t>
            </a:r>
            <a:r>
              <a:rPr lang="en"/>
              <a:t>received</a:t>
            </a:r>
            <a:r>
              <a:rPr lang="en"/>
              <a:t> </a:t>
            </a:r>
            <a:r>
              <a:rPr lang="en"/>
              <a:t>treatment</a:t>
            </a:r>
            <a:r>
              <a:rPr lang="en"/>
              <a:t> due to </a:t>
            </a:r>
            <a:r>
              <a:rPr lang="en"/>
              <a:t>stigma</a:t>
            </a:r>
            <a:r>
              <a:rPr lang="en"/>
              <a:t>, cost, waitlists, or lack of health insurance.. When symptoms hit, people often have no immediate support, just a phone full of apps that aren’t built  for in the moment regulation.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56886"/>
                </a:solidFill>
              </a:rPr>
              <a:t>Why It Matters</a:t>
            </a:r>
            <a:endParaRPr b="1">
              <a:solidFill>
                <a:srgbClr val="85688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Untreated anxiety and emotional dysregulation can impact work, relationships, school performance, and physical health. People need fast, stigma-free, accessible support they can use anytime, without waiting weeks for an appointment.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170450" y="390725"/>
            <a:ext cx="6803100" cy="681300"/>
          </a:xfrm>
          <a:prstGeom prst="rect">
            <a:avLst/>
          </a:prstGeom>
          <a:noFill/>
          <a:ln cap="flat" cmpd="sng" w="38100">
            <a:solidFill>
              <a:srgbClr val="8568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68C80"/>
                </a:solidFill>
              </a:rPr>
              <a:t>Idea</a:t>
            </a:r>
            <a:r>
              <a:rPr lang="en">
                <a:solidFill>
                  <a:srgbClr val="168C80"/>
                </a:solidFill>
              </a:rPr>
              <a:t> 1: AI Guided Crisis Support App</a:t>
            </a:r>
            <a:endParaRPr>
              <a:solidFill>
                <a:srgbClr val="168C80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9293"/>
              <a:buFont typeface="Arial"/>
              <a:buNone/>
            </a:pPr>
            <a:r>
              <a:rPr b="1" lang="en" sz="2231">
                <a:solidFill>
                  <a:srgbClr val="856886"/>
                </a:solidFill>
              </a:rPr>
              <a:t>Concept Overview:</a:t>
            </a:r>
            <a:endParaRPr b="1" sz="2231">
              <a:solidFill>
                <a:srgbClr val="85688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4582"/>
              <a:buFont typeface="Arial"/>
              <a:buNone/>
            </a:pPr>
            <a:r>
              <a:rPr lang="en" sz="2015">
                <a:solidFill>
                  <a:schemeClr val="dk1"/>
                </a:solidFill>
              </a:rPr>
              <a:t>A mobile app that helps users navigate panic attacks, anxiety spikes, racing thoughts, or emotional flooding.</a:t>
            </a:r>
            <a:endParaRPr sz="201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9293"/>
              <a:buFont typeface="Arial"/>
              <a:buNone/>
            </a:pPr>
            <a:r>
              <a:rPr b="1" lang="en" sz="2231">
                <a:solidFill>
                  <a:srgbClr val="856886"/>
                </a:solidFill>
              </a:rPr>
              <a:t>Core Features:</a:t>
            </a:r>
            <a:endParaRPr b="1" sz="2231">
              <a:solidFill>
                <a:srgbClr val="856886"/>
              </a:solidFill>
            </a:endParaRPr>
          </a:p>
          <a:p>
            <a:pPr indent="-318179" lvl="0" marL="457200" rtl="0" algn="l">
              <a:spcBef>
                <a:spcPts val="1200"/>
              </a:spcBef>
              <a:spcAft>
                <a:spcPts val="0"/>
              </a:spcAft>
              <a:buClr>
                <a:srgbClr val="856886"/>
              </a:buClr>
              <a:buSzPct val="100000"/>
              <a:buChar char="➔"/>
            </a:pPr>
            <a:r>
              <a:rPr lang="en" sz="2015">
                <a:solidFill>
                  <a:schemeClr val="dk1"/>
                </a:solidFill>
              </a:rPr>
              <a:t>Tap → choose what you’re experiencing (panic, racing thoughts, overwhelm, etc.)</a:t>
            </a:r>
            <a:endParaRPr sz="2015">
              <a:solidFill>
                <a:schemeClr val="dk1"/>
              </a:solidFill>
            </a:endParaRPr>
          </a:p>
          <a:p>
            <a:pPr indent="-318179" lvl="0" marL="457200" rtl="0" algn="l">
              <a:spcBef>
                <a:spcPts val="0"/>
              </a:spcBef>
              <a:spcAft>
                <a:spcPts val="0"/>
              </a:spcAft>
              <a:buClr>
                <a:srgbClr val="856886"/>
              </a:buClr>
              <a:buSzPct val="100000"/>
              <a:buChar char="➔"/>
            </a:pPr>
            <a:r>
              <a:rPr lang="en" sz="2015">
                <a:solidFill>
                  <a:schemeClr val="dk1"/>
                </a:solidFill>
              </a:rPr>
              <a:t>App walks you through grounding steps or breathing</a:t>
            </a:r>
            <a:endParaRPr sz="2015">
              <a:solidFill>
                <a:schemeClr val="dk1"/>
              </a:solidFill>
            </a:endParaRPr>
          </a:p>
          <a:p>
            <a:pPr indent="-318179" lvl="0" marL="457200" rtl="0" algn="l">
              <a:spcBef>
                <a:spcPts val="0"/>
              </a:spcBef>
              <a:spcAft>
                <a:spcPts val="0"/>
              </a:spcAft>
              <a:buClr>
                <a:srgbClr val="856886"/>
              </a:buClr>
              <a:buSzPct val="100000"/>
              <a:buChar char="➔"/>
            </a:pPr>
            <a:r>
              <a:rPr lang="en" sz="2015">
                <a:solidFill>
                  <a:schemeClr val="dk1"/>
                </a:solidFill>
              </a:rPr>
              <a:t>Real-time symptom interpretation (“Are you dizzy? Chest tightness? Trouble focusing?”)</a:t>
            </a:r>
            <a:endParaRPr sz="2015">
              <a:solidFill>
                <a:schemeClr val="dk1"/>
              </a:solidFill>
            </a:endParaRPr>
          </a:p>
          <a:p>
            <a:pPr indent="-318179" lvl="0" marL="457200" rtl="0" algn="l">
              <a:spcBef>
                <a:spcPts val="0"/>
              </a:spcBef>
              <a:spcAft>
                <a:spcPts val="0"/>
              </a:spcAft>
              <a:buClr>
                <a:srgbClr val="856886"/>
              </a:buClr>
              <a:buSzPct val="100000"/>
              <a:buChar char="➔"/>
            </a:pPr>
            <a:r>
              <a:rPr lang="en" sz="2015">
                <a:solidFill>
                  <a:schemeClr val="dk1"/>
                </a:solidFill>
              </a:rPr>
              <a:t>AI suggests the correct coping flow (backed by research)</a:t>
            </a:r>
            <a:endParaRPr sz="201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9654"/>
              <a:buFont typeface="Arial"/>
              <a:buNone/>
            </a:pPr>
            <a:r>
              <a:rPr b="1" lang="en" sz="2215">
                <a:solidFill>
                  <a:srgbClr val="856886"/>
                </a:solidFill>
              </a:rPr>
              <a:t>User Benefit:</a:t>
            </a:r>
            <a:endParaRPr b="1" sz="2215">
              <a:solidFill>
                <a:srgbClr val="85688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15">
                <a:solidFill>
                  <a:schemeClr val="dk1"/>
                </a:solidFill>
              </a:rPr>
              <a:t>When you can’t think straight, the app does the thinking </a:t>
            </a:r>
            <a:r>
              <a:rPr i="1" lang="en" sz="2015">
                <a:solidFill>
                  <a:schemeClr val="dk1"/>
                </a:solidFill>
              </a:rPr>
              <a:t>for</a:t>
            </a:r>
            <a:r>
              <a:rPr lang="en" sz="2015">
                <a:solidFill>
                  <a:schemeClr val="dk1"/>
                </a:solidFill>
              </a:rPr>
              <a:t> you.</a:t>
            </a:r>
            <a:endParaRPr sz="201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1170450" y="390725"/>
            <a:ext cx="6803100" cy="681300"/>
          </a:xfrm>
          <a:prstGeom prst="rect">
            <a:avLst/>
          </a:prstGeom>
          <a:noFill/>
          <a:ln cap="flat" cmpd="sng" w="38100">
            <a:solidFill>
              <a:srgbClr val="8568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68C80"/>
                </a:solidFill>
              </a:rPr>
              <a:t>Idea 2: Panic Button Widget</a:t>
            </a:r>
            <a:endParaRPr>
              <a:solidFill>
                <a:srgbClr val="168C80"/>
              </a:solidFill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856886"/>
                </a:solidFill>
              </a:rPr>
              <a:t>Concept Overview:</a:t>
            </a:r>
            <a:endParaRPr b="1" sz="1600">
              <a:solidFill>
                <a:srgbClr val="85688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A one-tap widget on the phone home screen for immediate support.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856886"/>
                </a:solidFill>
              </a:rPr>
              <a:t>How It Works:</a:t>
            </a:r>
            <a:endParaRPr b="1" sz="1600">
              <a:solidFill>
                <a:srgbClr val="856886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856886"/>
              </a:buClr>
              <a:buSzPts val="1400"/>
              <a:buChar char="➔"/>
            </a:pPr>
            <a:r>
              <a:rPr lang="en" sz="1400">
                <a:solidFill>
                  <a:schemeClr val="dk1"/>
                </a:solidFill>
              </a:rPr>
              <a:t>User hits the panic button → simple AI chatbot asks what’s happening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856886"/>
              </a:buClr>
              <a:buSzPts val="1400"/>
              <a:buChar char="➔"/>
            </a:pPr>
            <a:r>
              <a:rPr lang="en" sz="1400">
                <a:solidFill>
                  <a:schemeClr val="dk1"/>
                </a:solidFill>
              </a:rPr>
              <a:t>User selects symptoms from a checklist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856886"/>
              </a:buClr>
              <a:buSzPts val="1400"/>
              <a:buChar char="➔"/>
            </a:pPr>
            <a:r>
              <a:rPr lang="en" sz="1400">
                <a:solidFill>
                  <a:schemeClr val="dk1"/>
                </a:solidFill>
              </a:rPr>
              <a:t>App generates personalized grounding instructions or coping exercises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856886"/>
              </a:buClr>
              <a:buSzPts val="1400"/>
              <a:buChar char="➔"/>
            </a:pPr>
            <a:r>
              <a:rPr lang="en" sz="1400">
                <a:solidFill>
                  <a:schemeClr val="dk1"/>
                </a:solidFill>
              </a:rPr>
              <a:t>Hands-free audio guidance for situations like driving anxiety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856886"/>
                </a:solidFill>
              </a:rPr>
              <a:t>User Benefit:</a:t>
            </a:r>
            <a:endParaRPr b="1" sz="1600">
              <a:solidFill>
                <a:srgbClr val="85688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Instant support for people who can’t unlock, navigate, or think through options during a crisis.</a:t>
            </a:r>
            <a:endParaRPr sz="2100"/>
          </a:p>
        </p:txBody>
      </p:sp>
      <p:sp>
        <p:nvSpPr>
          <p:cNvPr id="77" name="Google Shape;77;p16"/>
          <p:cNvSpPr/>
          <p:nvPr/>
        </p:nvSpPr>
        <p:spPr>
          <a:xfrm>
            <a:off x="1170450" y="390725"/>
            <a:ext cx="6803100" cy="681300"/>
          </a:xfrm>
          <a:prstGeom prst="rect">
            <a:avLst/>
          </a:prstGeom>
          <a:noFill/>
          <a:ln cap="flat" cmpd="sng" w="38100">
            <a:solidFill>
              <a:srgbClr val="8568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68C80"/>
                </a:solidFill>
              </a:rPr>
              <a:t>How AI Is Applied</a:t>
            </a:r>
            <a:endParaRPr>
              <a:solidFill>
                <a:srgbClr val="168C80"/>
              </a:solidFill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856886"/>
                </a:solidFill>
              </a:rPr>
              <a:t>AI Usage (High Level, Non-Clinical):</a:t>
            </a:r>
            <a:endParaRPr b="1" sz="1700">
              <a:solidFill>
                <a:srgbClr val="856886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856886"/>
              </a:buClr>
              <a:buSzPts val="1500"/>
              <a:buChar char="➔"/>
            </a:pPr>
            <a:r>
              <a:rPr lang="en" sz="1500">
                <a:solidFill>
                  <a:schemeClr val="dk1"/>
                </a:solidFill>
              </a:rPr>
              <a:t>Classifies the user’s chosen symptoms to match them with the right support flow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856886"/>
              </a:buClr>
              <a:buSzPts val="1500"/>
              <a:buChar char="➔"/>
            </a:pPr>
            <a:r>
              <a:rPr lang="en" sz="1500">
                <a:solidFill>
                  <a:schemeClr val="dk1"/>
                </a:solidFill>
              </a:rPr>
              <a:t>Adapts coping steps based on previous user choices (personalized but simple)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856886"/>
              </a:buClr>
              <a:buSzPts val="1500"/>
              <a:buChar char="➔"/>
            </a:pPr>
            <a:r>
              <a:rPr lang="en" sz="1500">
                <a:solidFill>
                  <a:schemeClr val="dk1"/>
                </a:solidFill>
              </a:rPr>
              <a:t>Identifies patterns in user logs (optional feature) to recommend tools that work best for them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56886"/>
                </a:solidFill>
              </a:rPr>
              <a:t>Important Note:</a:t>
            </a:r>
            <a:endParaRPr b="1" sz="1700">
              <a:solidFill>
                <a:srgbClr val="85688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The AI </a:t>
            </a:r>
            <a:r>
              <a:rPr i="1" lang="en" sz="1500">
                <a:solidFill>
                  <a:schemeClr val="dk1"/>
                </a:solidFill>
              </a:rPr>
              <a:t>does not diagnose</a:t>
            </a:r>
            <a:r>
              <a:rPr lang="en" sz="1500">
                <a:solidFill>
                  <a:schemeClr val="dk1"/>
                </a:solidFill>
              </a:rPr>
              <a:t>. It only helps choose the appropriate coping flow based on user input. We can use science backed </a:t>
            </a:r>
            <a:r>
              <a:rPr lang="en" sz="1500">
                <a:solidFill>
                  <a:schemeClr val="dk1"/>
                </a:solidFill>
              </a:rPr>
              <a:t>research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lang="en" sz="1500">
                <a:solidFill>
                  <a:schemeClr val="dk1"/>
                </a:solidFill>
              </a:rPr>
              <a:t>experts in the field to avoid negative results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1125000" y="390725"/>
            <a:ext cx="6803100" cy="681300"/>
          </a:xfrm>
          <a:prstGeom prst="rect">
            <a:avLst/>
          </a:prstGeom>
          <a:noFill/>
          <a:ln cap="flat" cmpd="sng" w="38100">
            <a:solidFill>
              <a:srgbClr val="8568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