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rgbClr val="CDD8FB"/>
          </a:solidFill>
        </a:fill>
      </a:tcStyle>
    </a:wholeTbl>
    <a:band2H>
      <a:tcTxStyle b="def" i="def"/>
      <a:tcStyle>
        <a:tcBdr/>
        <a:fill>
          <a:solidFill>
            <a:srgbClr val="E8EDFD"/>
          </a:solidFill>
        </a:fill>
      </a:tcStyle>
    </a:band2H>
    <a:firstCol>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1"/>
          </a:solidFill>
        </a:fill>
      </a:tcStyle>
    </a:firstCol>
    <a:lastRow>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381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1"/>
          </a:solidFill>
        </a:fill>
      </a:tcStyle>
    </a:lastRow>
    <a:firstRow>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381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3"/>
          </a:solidFill>
        </a:fill>
      </a:tcStyle>
    </a:firstCol>
    <a:lastRow>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381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3"/>
          </a:solidFill>
        </a:fill>
      </a:tcStyle>
    </a:lastRow>
    <a:firstRow>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381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6"/>
          </a:solidFill>
        </a:fill>
      </a:tcStyle>
    </a:firstCol>
    <a:lastRow>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381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6"/>
          </a:solidFill>
        </a:fill>
      </a:tcStyle>
    </a:lastRow>
    <a:firstRow>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381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8EA"/>
          </a:solidFill>
        </a:fill>
      </a:tcStyle>
    </a:band2H>
    <a:firstCol>
      <a:tcTxStyle b="on" i="off">
        <a:fontRef idx="major">
          <a:srgbClr val="FFF8EA"/>
        </a:fontRef>
        <a:srgbClr val="FFF8EA"/>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8EA"/>
          </a:solidFill>
        </a:fill>
      </a:tcStyle>
    </a:lastRow>
    <a:firstRow>
      <a:tcTxStyle b="on" i="off">
        <a:fontRef idx="major">
          <a:srgbClr val="FFF8EA"/>
        </a:fontRef>
        <a:srgbClr val="FFF8EA"/>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rgbClr val="000000"/>
          </a:solidFill>
        </a:fill>
      </a:tcStyle>
    </a:firstCol>
    <a:lastRow>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38100" cap="flat">
              <a:solidFill>
                <a:srgbClr val="FFF8EA"/>
              </a:solidFill>
              <a:prstDash val="solid"/>
              <a:round/>
            </a:ln>
          </a:top>
          <a:bottom>
            <a:ln w="127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rgbClr val="000000"/>
          </a:solidFill>
        </a:fill>
      </a:tcStyle>
    </a:lastRow>
    <a:firstRow>
      <a:tcTxStyle b="on" i="off">
        <a:fontRef idx="major">
          <a:srgbClr val="FFF8EA"/>
        </a:fontRef>
        <a:srgbClr val="FFF8EA"/>
      </a:tcTxStyle>
      <a:tcStyle>
        <a:tcBdr>
          <a:left>
            <a:ln w="12700" cap="flat">
              <a:solidFill>
                <a:srgbClr val="FFF8EA"/>
              </a:solidFill>
              <a:prstDash val="solid"/>
              <a:round/>
            </a:ln>
          </a:left>
          <a:right>
            <a:ln w="12700" cap="flat">
              <a:solidFill>
                <a:srgbClr val="FFF8EA"/>
              </a:solidFill>
              <a:prstDash val="solid"/>
              <a:round/>
            </a:ln>
          </a:right>
          <a:top>
            <a:ln w="12700" cap="flat">
              <a:solidFill>
                <a:srgbClr val="FFF8EA"/>
              </a:solidFill>
              <a:prstDash val="solid"/>
              <a:round/>
            </a:ln>
          </a:top>
          <a:bottom>
            <a:ln w="38100" cap="flat">
              <a:solidFill>
                <a:srgbClr val="FFF8EA"/>
              </a:solidFill>
              <a:prstDash val="solid"/>
              <a:round/>
            </a:ln>
          </a:bottom>
          <a:insideH>
            <a:ln w="12700" cap="flat">
              <a:solidFill>
                <a:srgbClr val="FFF8EA"/>
              </a:solidFill>
              <a:prstDash val="solid"/>
              <a:round/>
            </a:ln>
          </a:insideH>
          <a:insideV>
            <a:ln w="12700" cap="flat">
              <a:solidFill>
                <a:srgbClr val="FFF8EA"/>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311708" y="744573"/>
            <a:ext cx="8520601" cy="2052603"/>
          </a:xfrm>
          <a:prstGeom prst="rect">
            <a:avLst/>
          </a:prstGeom>
        </p:spPr>
        <p:txBody>
          <a:bodyPr anchor="b"/>
          <a:lstStyle>
            <a:lvl1pPr algn="ctr">
              <a:defRPr sz="5200"/>
            </a:lvl1pPr>
          </a:lstStyle>
          <a:p>
            <a:pPr/>
            <a:r>
              <a:t>Title Text</a:t>
            </a:r>
          </a:p>
        </p:txBody>
      </p:sp>
      <p:sp>
        <p:nvSpPr>
          <p:cNvPr id="12" name="Body Level One…"/>
          <p:cNvSpPr txBox="1"/>
          <p:nvPr>
            <p:ph type="body" sz="quarter" idx="1"/>
          </p:nvPr>
        </p:nvSpPr>
        <p:spPr>
          <a:xfrm>
            <a:off x="311698" y="2834125"/>
            <a:ext cx="8520603" cy="792602"/>
          </a:xfrm>
          <a:prstGeom prst="rect">
            <a:avLst/>
          </a:prstGeom>
        </p:spPr>
        <p:txBody>
          <a:bodyPr/>
          <a:lstStyle>
            <a:lvl1pPr marL="228600" indent="-114300" algn="ctr">
              <a:lnSpc>
                <a:spcPct val="100000"/>
              </a:lnSpc>
              <a:buClrTx/>
              <a:buSzTx/>
              <a:buFontTx/>
              <a:buNone/>
              <a:defRPr sz="2800"/>
            </a:lvl1pPr>
            <a:lvl2pPr marL="228600" indent="114300" algn="ctr">
              <a:lnSpc>
                <a:spcPct val="100000"/>
              </a:lnSpc>
              <a:buClrTx/>
              <a:buSzTx/>
              <a:buFontTx/>
              <a:buNone/>
              <a:defRPr sz="2800"/>
            </a:lvl2pPr>
            <a:lvl3pPr marL="228600" indent="114300" algn="ctr">
              <a:lnSpc>
                <a:spcPct val="100000"/>
              </a:lnSpc>
              <a:buClrTx/>
              <a:buSzTx/>
              <a:buFontTx/>
              <a:buNone/>
              <a:defRPr sz="2800"/>
            </a:lvl3pPr>
            <a:lvl4pPr marL="228600" indent="114300" algn="ctr">
              <a:lnSpc>
                <a:spcPct val="100000"/>
              </a:lnSpc>
              <a:buClrTx/>
              <a:buSzTx/>
              <a:buFontTx/>
              <a:buNone/>
              <a:defRPr sz="2800"/>
            </a:lvl4pPr>
            <a:lvl5pPr marL="228600" indent="114300" algn="ctr">
              <a:lnSpc>
                <a:spcPct val="100000"/>
              </a:lnSpc>
              <a:buClrTx/>
              <a:buSzTx/>
              <a:buFontTx/>
              <a:buNone/>
              <a:defRPr sz="28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311698" y="2150848"/>
            <a:ext cx="8520603" cy="841802"/>
          </a:xfrm>
          <a:prstGeom prst="rect">
            <a:avLst/>
          </a:prstGeom>
        </p:spPr>
        <p:txBody>
          <a:bodyPr anchor="ctr"/>
          <a:lstStyle>
            <a:lvl1pPr algn="ctr">
              <a:defRPr sz="3600"/>
            </a:lvl1pPr>
          </a:lstStyle>
          <a:p>
            <a:pPr/>
            <a:r>
              <a:t>Title Text</a:t>
            </a:r>
          </a:p>
        </p:txBody>
      </p:sp>
      <p:sp>
        <p:nvSpPr>
          <p:cNvPr id="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8" name="Title Text"/>
          <p:cNvSpPr txBox="1"/>
          <p:nvPr>
            <p:ph type="title"/>
          </p:nvPr>
        </p:nvSpPr>
        <p:spPr>
          <a:prstGeom prst="rect">
            <a:avLst/>
          </a:prstGeom>
        </p:spPr>
        <p:txBody>
          <a:bodyPr/>
          <a:lstStyle/>
          <a:p>
            <a:pPr/>
            <a:r>
              <a:t>Title Text</a:t>
            </a:r>
          </a:p>
        </p:txBody>
      </p:sp>
      <p:sp>
        <p:nvSpPr>
          <p:cNvPr id="29"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37" name="Title Text"/>
          <p:cNvSpPr txBox="1"/>
          <p:nvPr>
            <p:ph type="title"/>
          </p:nvPr>
        </p:nvSpPr>
        <p:spPr>
          <a:prstGeom prst="rect">
            <a:avLst/>
          </a:prstGeom>
        </p:spPr>
        <p:txBody>
          <a:bodyPr/>
          <a:lstStyle/>
          <a:p>
            <a:pPr/>
            <a:r>
              <a:t>Title Text</a:t>
            </a:r>
          </a:p>
        </p:txBody>
      </p:sp>
      <p:sp>
        <p:nvSpPr>
          <p:cNvPr id="38" name="Body Level One…"/>
          <p:cNvSpPr txBox="1"/>
          <p:nvPr>
            <p:ph type="body" sz="half" idx="1"/>
          </p:nvPr>
        </p:nvSpPr>
        <p:spPr>
          <a:xfrm>
            <a:off x="311698" y="1152475"/>
            <a:ext cx="3999903"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pPr/>
            <a:r>
              <a:t>Body Level One</a:t>
            </a:r>
          </a:p>
          <a:p>
            <a:pPr lvl="1"/>
            <a:r>
              <a:t>Body Level Two</a:t>
            </a:r>
          </a:p>
          <a:p>
            <a:pPr lvl="2"/>
            <a:r>
              <a:t>Body Level Three</a:t>
            </a:r>
          </a:p>
          <a:p>
            <a:pPr lvl="3"/>
            <a:r>
              <a:t>Body Level Four</a:t>
            </a:r>
          </a:p>
          <a:p>
            <a:pPr lvl="4"/>
            <a:r>
              <a:t>Body Level Five</a:t>
            </a:r>
          </a:p>
        </p:txBody>
      </p:sp>
      <p:sp>
        <p:nvSpPr>
          <p:cNvPr id="39" name="Google Shape;23;p5"/>
          <p:cNvSpPr txBox="1"/>
          <p:nvPr>
            <p:ph type="body" sz="half" idx="21"/>
          </p:nvPr>
        </p:nvSpPr>
        <p:spPr>
          <a:xfrm>
            <a:off x="4832398" y="1152475"/>
            <a:ext cx="3999903" cy="3416400"/>
          </a:xfrm>
          <a:prstGeom prst="rect">
            <a:avLst/>
          </a:prstGeom>
        </p:spPr>
        <p:txBody>
          <a:bodyPr/>
          <a:lstStyle/>
          <a:p>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55" name="Title Text"/>
          <p:cNvSpPr txBox="1"/>
          <p:nvPr>
            <p:ph type="title"/>
          </p:nvPr>
        </p:nvSpPr>
        <p:spPr>
          <a:xfrm>
            <a:off x="311698" y="555600"/>
            <a:ext cx="2808003" cy="755700"/>
          </a:xfrm>
          <a:prstGeom prst="rect">
            <a:avLst/>
          </a:prstGeom>
        </p:spPr>
        <p:txBody>
          <a:bodyPr anchor="b"/>
          <a:lstStyle>
            <a:lvl1pPr>
              <a:defRPr sz="2400"/>
            </a:lvl1pPr>
          </a:lstStyle>
          <a:p>
            <a:pPr/>
            <a:r>
              <a:t>Title Text</a:t>
            </a:r>
          </a:p>
        </p:txBody>
      </p:sp>
      <p:sp>
        <p:nvSpPr>
          <p:cNvPr id="56" name="Body Level One…"/>
          <p:cNvSpPr txBox="1"/>
          <p:nvPr>
            <p:ph type="body" sz="quarter" idx="1"/>
          </p:nvPr>
        </p:nvSpPr>
        <p:spPr>
          <a:xfrm>
            <a:off x="311698" y="1389598"/>
            <a:ext cx="2808003" cy="3179403"/>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pPr/>
            <a:r>
              <a:t>Body Level One</a:t>
            </a:r>
          </a:p>
          <a:p>
            <a:pPr lvl="1"/>
            <a:r>
              <a:t>Body Level Two</a:t>
            </a:r>
          </a:p>
          <a:p>
            <a:pPr lvl="2"/>
            <a:r>
              <a:t>Body Level Three</a:t>
            </a:r>
          </a:p>
          <a:p>
            <a:pPr lvl="3"/>
            <a:r>
              <a:t>Body Level Four</a:t>
            </a:r>
          </a:p>
          <a:p>
            <a:pPr lvl="4"/>
            <a:r>
              <a:t>Body Level Five</a:t>
            </a: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
    <p:spTree>
      <p:nvGrpSpPr>
        <p:cNvPr id="1" name=""/>
        <p:cNvGrpSpPr/>
        <p:nvPr/>
      </p:nvGrpSpPr>
      <p:grpSpPr>
        <a:xfrm>
          <a:off x="0" y="0"/>
          <a:ext cx="0" cy="0"/>
          <a:chOff x="0" y="0"/>
          <a:chExt cx="0" cy="0"/>
        </a:xfrm>
      </p:grpSpPr>
      <p:sp>
        <p:nvSpPr>
          <p:cNvPr id="64" name="Title Text"/>
          <p:cNvSpPr txBox="1"/>
          <p:nvPr>
            <p:ph type="title"/>
          </p:nvPr>
        </p:nvSpPr>
        <p:spPr>
          <a:xfrm>
            <a:off x="490250" y="450148"/>
            <a:ext cx="6367801" cy="4090803"/>
          </a:xfrm>
          <a:prstGeom prst="rect">
            <a:avLst/>
          </a:prstGeom>
        </p:spPr>
        <p:txBody>
          <a:bodyPr anchor="ctr"/>
          <a:lstStyle>
            <a:lvl1pPr>
              <a:defRPr sz="4800"/>
            </a:lvl1pPr>
          </a:lstStyle>
          <a:p>
            <a:pPr/>
            <a:r>
              <a:t>Title Text</a:t>
            </a: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6"/>
            <a:ext cx="4572000" cy="5143503"/>
          </a:xfrm>
          <a:prstGeom prst="rect">
            <a:avLst/>
          </a:prstGeom>
          <a:solidFill>
            <a:srgbClr val="EEEEEE"/>
          </a:solidFill>
          <a:ln w="12700">
            <a:miter lim="400000"/>
          </a:ln>
        </p:spPr>
        <p:txBody>
          <a:bodyPr lIns="0" tIns="0" rIns="0" bIns="0" anchor="ctr"/>
          <a:lstStyle/>
          <a:p>
            <a:pPr>
              <a:defRPr>
                <a:latin typeface="+mn-lt"/>
                <a:ea typeface="+mn-ea"/>
                <a:cs typeface="+mn-cs"/>
                <a:sym typeface="Arial"/>
              </a:defRPr>
            </a:pPr>
          </a:p>
        </p:txBody>
      </p:sp>
      <p:sp>
        <p:nvSpPr>
          <p:cNvPr id="73" name="Title Text"/>
          <p:cNvSpPr txBox="1"/>
          <p:nvPr>
            <p:ph type="title"/>
          </p:nvPr>
        </p:nvSpPr>
        <p:spPr>
          <a:xfrm>
            <a:off x="265500" y="1233175"/>
            <a:ext cx="4045200" cy="1482302"/>
          </a:xfrm>
          <a:prstGeom prst="rect">
            <a:avLst/>
          </a:prstGeom>
        </p:spPr>
        <p:txBody>
          <a:bodyPr anchor="b"/>
          <a:lstStyle>
            <a:lvl1pPr algn="ctr">
              <a:defRPr sz="4200"/>
            </a:lvl1pPr>
          </a:lstStyle>
          <a:p>
            <a:pPr/>
            <a:r>
              <a:t>Title Text</a:t>
            </a:r>
          </a:p>
        </p:txBody>
      </p:sp>
      <p:sp>
        <p:nvSpPr>
          <p:cNvPr id="74" name="Body Level One…"/>
          <p:cNvSpPr txBox="1"/>
          <p:nvPr>
            <p:ph type="body" sz="quarter" idx="1"/>
          </p:nvPr>
        </p:nvSpPr>
        <p:spPr>
          <a:xfrm>
            <a:off x="265500" y="2803075"/>
            <a:ext cx="4045200" cy="1235101"/>
          </a:xfrm>
          <a:prstGeom prst="rect">
            <a:avLst/>
          </a:prstGeom>
        </p:spPr>
        <p:txBody>
          <a:bodyPr/>
          <a:lstStyle>
            <a:lvl1pPr marL="228600" indent="-114300" algn="ctr">
              <a:lnSpc>
                <a:spcPct val="100000"/>
              </a:lnSpc>
              <a:buClrTx/>
              <a:buSzTx/>
              <a:buFontTx/>
              <a:buNone/>
              <a:defRPr sz="2100"/>
            </a:lvl1pPr>
            <a:lvl2pPr marL="228600" indent="114300" algn="ctr">
              <a:lnSpc>
                <a:spcPct val="100000"/>
              </a:lnSpc>
              <a:buClrTx/>
              <a:buSzTx/>
              <a:buFontTx/>
              <a:buNone/>
              <a:defRPr sz="2100"/>
            </a:lvl2pPr>
            <a:lvl3pPr marL="228600" indent="114300" algn="ctr">
              <a:lnSpc>
                <a:spcPct val="100000"/>
              </a:lnSpc>
              <a:buClrTx/>
              <a:buSzTx/>
              <a:buFontTx/>
              <a:buNone/>
              <a:defRPr sz="2100"/>
            </a:lvl3pPr>
            <a:lvl4pPr marL="228600" indent="114300" algn="ctr">
              <a:lnSpc>
                <a:spcPct val="100000"/>
              </a:lnSpc>
              <a:buClrTx/>
              <a:buSzTx/>
              <a:buFontTx/>
              <a:buNone/>
              <a:defRPr sz="2100"/>
            </a:lvl4pPr>
            <a:lvl5pPr marL="228600" indent="114300" algn="ctr">
              <a:lnSpc>
                <a:spcPct val="100000"/>
              </a:lnSpc>
              <a:buClrTx/>
              <a:buSzTx/>
              <a:buFontTx/>
              <a:buNone/>
              <a:defRPr sz="2100"/>
            </a:lvl5pPr>
          </a:lstStyle>
          <a:p>
            <a:pPr/>
            <a:r>
              <a:t>Body Level One</a:t>
            </a:r>
          </a:p>
          <a:p>
            <a:pPr lvl="1"/>
            <a:r>
              <a:t>Body Level Two</a:t>
            </a:r>
          </a:p>
          <a:p>
            <a:pPr lvl="2"/>
            <a:r>
              <a:t>Body Level Three</a:t>
            </a:r>
          </a:p>
          <a:p>
            <a:pPr lvl="3"/>
            <a:r>
              <a:t>Body Level Four</a:t>
            </a:r>
          </a:p>
          <a:p>
            <a:pPr lvl="4"/>
            <a:r>
              <a:t>Body Level Five</a:t>
            </a:r>
          </a:p>
        </p:txBody>
      </p:sp>
      <p:sp>
        <p:nvSpPr>
          <p:cNvPr id="75" name="Google Shape;39;p9"/>
          <p:cNvSpPr txBox="1"/>
          <p:nvPr>
            <p:ph type="body" sz="half" idx="21"/>
          </p:nvPr>
        </p:nvSpPr>
        <p:spPr>
          <a:xfrm>
            <a:off x="4939500" y="724074"/>
            <a:ext cx="3837000" cy="3695102"/>
          </a:xfrm>
          <a:prstGeom prst="rect">
            <a:avLst/>
          </a:prstGeom>
        </p:spPr>
        <p:txBody>
          <a:bodyPr anchor="ctr"/>
          <a:lstStyle/>
          <a:p>
            <a:pP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83" name="Body Level One…"/>
          <p:cNvSpPr txBox="1"/>
          <p:nvPr>
            <p:ph type="body" sz="quarter" idx="1"/>
          </p:nvPr>
        </p:nvSpPr>
        <p:spPr>
          <a:xfrm>
            <a:off x="311698" y="4230575"/>
            <a:ext cx="5998804" cy="605102"/>
          </a:xfrm>
          <a:prstGeom prst="rect">
            <a:avLst/>
          </a:prstGeom>
        </p:spPr>
        <p:txBody>
          <a:bodyPr anchor="ctr"/>
          <a:lstStyle>
            <a:lvl1pPr marL="0" indent="22860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pPr/>
            <a:r>
              <a:t>Body Level One</a:t>
            </a:r>
          </a:p>
          <a:p>
            <a:pPr lvl="1"/>
            <a:r>
              <a:t>Body Level Two</a:t>
            </a:r>
          </a:p>
          <a:p>
            <a:pPr lvl="2"/>
            <a:r>
              <a:t>Body Level Three</a:t>
            </a:r>
          </a:p>
          <a:p>
            <a:pPr lvl="3"/>
            <a:r>
              <a:t>Body Level Four</a:t>
            </a:r>
          </a:p>
          <a:p>
            <a:pPr lvl="4"/>
            <a:r>
              <a:t>Body Level Five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91" name="xx%"/>
          <p:cNvSpPr txBox="1"/>
          <p:nvPr>
            <p:ph type="title" hasCustomPrompt="1"/>
          </p:nvPr>
        </p:nvSpPr>
        <p:spPr>
          <a:xfrm>
            <a:off x="311698" y="1106125"/>
            <a:ext cx="8520603" cy="1963500"/>
          </a:xfrm>
          <a:prstGeom prst="rect">
            <a:avLst/>
          </a:prstGeom>
        </p:spPr>
        <p:txBody>
          <a:bodyPr anchor="b"/>
          <a:lstStyle>
            <a:lvl1pPr algn="ctr">
              <a:defRPr sz="12000"/>
            </a:lvl1pPr>
          </a:lstStyle>
          <a:p>
            <a:pPr/>
            <a:r>
              <a:t>xx%</a:t>
            </a:r>
          </a:p>
        </p:txBody>
      </p:sp>
      <p:sp>
        <p:nvSpPr>
          <p:cNvPr id="92" name="Body Level One…"/>
          <p:cNvSpPr txBox="1"/>
          <p:nvPr>
            <p:ph type="body" sz="half" idx="1"/>
          </p:nvPr>
        </p:nvSpPr>
        <p:spPr>
          <a:xfrm>
            <a:off x="311698" y="3152225"/>
            <a:ext cx="8520603" cy="1300800"/>
          </a:xfrm>
          <a:prstGeom prst="rect">
            <a:avLst/>
          </a:prstGeom>
        </p:spPr>
        <p:txBody>
          <a:bodyPr/>
          <a:lstStyle>
            <a:lvl1pPr algn="ctr"/>
            <a:lvl2pPr algn="ctr"/>
            <a:lvl3pPr algn="ctr"/>
            <a:lvl4pPr algn="ctr"/>
            <a:lvl5pPr algn="ct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8EA"/>
        </a:solidFill>
      </p:bgPr>
    </p:bg>
    <p:spTree>
      <p:nvGrpSpPr>
        <p:cNvPr id="1" name=""/>
        <p:cNvGrpSpPr/>
        <p:nvPr/>
      </p:nvGrpSpPr>
      <p:grpSpPr>
        <a:xfrm>
          <a:off x="0" y="0"/>
          <a:ext cx="0" cy="0"/>
          <a:chOff x="0" y="0"/>
          <a:chExt cx="0" cy="0"/>
        </a:xfrm>
      </p:grpSpPr>
      <p:sp>
        <p:nvSpPr>
          <p:cNvPr id="2" name="Title Text"/>
          <p:cNvSpPr txBox="1"/>
          <p:nvPr>
            <p:ph type="title"/>
          </p:nvPr>
        </p:nvSpPr>
        <p:spPr>
          <a:xfrm>
            <a:off x="311698" y="445025"/>
            <a:ext cx="8520603" cy="5727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ormAutofit fontScale="100000" lnSpcReduction="0"/>
          </a:bodyPr>
          <a:lstStyle/>
          <a:p>
            <a:pPr/>
            <a:r>
              <a:t>Title Text</a:t>
            </a:r>
          </a:p>
        </p:txBody>
      </p:sp>
      <p:sp>
        <p:nvSpPr>
          <p:cNvPr id="3" name="Body Level One…"/>
          <p:cNvSpPr txBox="1"/>
          <p:nvPr>
            <p:ph type="body" idx="1"/>
          </p:nvPr>
        </p:nvSpPr>
        <p:spPr>
          <a:xfrm>
            <a:off x="311698" y="1152475"/>
            <a:ext cx="8520603" cy="3416400"/>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684348" y="4700820"/>
            <a:ext cx="336812" cy="318394"/>
          </a:xfrm>
          <a:prstGeom prst="rect">
            <a:avLst/>
          </a:prstGeom>
          <a:ln w="12700">
            <a:miter lim="400000"/>
          </a:ln>
        </p:spPr>
        <p:txBody>
          <a:bodyPr wrap="none" lIns="91423" tIns="91423" rIns="91423" bIns="91423" anchor="ctr">
            <a:normAutofit fontScale="100000" lnSpcReduction="0"/>
          </a:bodyPr>
          <a:lstStyle>
            <a:lvl1pPr algn="r">
              <a:defRPr sz="1000">
                <a:solidFill>
                  <a:srgbClr val="585858"/>
                </a:solidFill>
                <a:latin typeface="+mn-lt"/>
                <a:ea typeface="+mn-ea"/>
                <a:cs typeface="+mn-cs"/>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1pPr>
      <a:lvl2pPr marL="1005114" marR="0" indent="-408213"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6pPr>
      <a:lvl7pPr marL="3291113" marR="0" indent="-408214"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7pPr>
      <a:lvl8pPr marL="3748313" marR="0" indent="-408213"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8pPr>
      <a:lvl9pPr marL="4205513" marR="0" indent="-408213" algn="l" defTabSz="914400" rtl="0" latinLnBrk="0">
        <a:lnSpc>
          <a:spcPct val="115000"/>
        </a:lnSpc>
        <a:spcBef>
          <a:spcPts val="0"/>
        </a:spcBef>
        <a:spcAft>
          <a:spcPts val="0"/>
        </a:spcAft>
        <a:buClr>
          <a:srgbClr val="585858"/>
        </a:buClr>
        <a:buSzPts val="1800"/>
        <a:buFont typeface="Arial"/>
        <a:buChar char="■"/>
        <a:tabLst/>
        <a:defRPr b="0" baseline="0" cap="none" i="0" spc="0" strike="noStrike" sz="1800" u="none">
          <a:solidFill>
            <a:srgbClr val="585858"/>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09" name="Google Shape;54;p13"/>
          <p:cNvSpPr txBox="1"/>
          <p:nvPr>
            <p:ph type="subTitle" sz="quarter" idx="1"/>
          </p:nvPr>
        </p:nvSpPr>
        <p:spPr>
          <a:xfrm>
            <a:off x="311699" y="4034097"/>
            <a:ext cx="8520602" cy="792602"/>
          </a:xfrm>
          <a:prstGeom prst="rect">
            <a:avLst/>
          </a:prstGeom>
        </p:spPr>
        <p:txBody>
          <a:bodyPr/>
          <a:lstStyle>
            <a:lvl1pPr marL="0" indent="0">
              <a:defRPr sz="2000">
                <a:solidFill>
                  <a:srgbClr val="EF8E74"/>
                </a:solidFill>
                <a:latin typeface="Caveat"/>
                <a:ea typeface="Caveat"/>
                <a:cs typeface="Caveat"/>
                <a:sym typeface="Caveat"/>
              </a:defRPr>
            </a:lvl1pPr>
          </a:lstStyle>
          <a:p>
            <a:pPr/>
            <a:r>
              <a:t>An AI Guided Crisis Support Companion</a:t>
            </a:r>
          </a:p>
        </p:txBody>
      </p:sp>
      <p:sp>
        <p:nvSpPr>
          <p:cNvPr id="110" name="Google Shape;56;p13"/>
          <p:cNvSpPr/>
          <p:nvPr/>
        </p:nvSpPr>
        <p:spPr>
          <a:xfrm>
            <a:off x="1820310" y="3975447"/>
            <a:ext cx="5619475" cy="681302"/>
          </a:xfrm>
          <a:prstGeom prst="rect">
            <a:avLst/>
          </a:prstGeom>
          <a:ln w="38100">
            <a:solidFill>
              <a:srgbClr val="6792C7"/>
            </a:solidFill>
          </a:ln>
        </p:spPr>
        <p:txBody>
          <a:bodyPr lIns="0" tIns="0" rIns="0" bIns="0" anchor="ctr"/>
          <a:lstStyle/>
          <a:p>
            <a:pPr algn="ctr">
              <a:defRPr>
                <a:latin typeface="+mn-lt"/>
                <a:ea typeface="+mn-ea"/>
                <a:cs typeface="+mn-cs"/>
                <a:sym typeface="Arial"/>
              </a:defRPr>
            </a:pPr>
          </a:p>
        </p:txBody>
      </p:sp>
      <p:pic>
        <p:nvPicPr>
          <p:cNvPr id="111" name="Picture 3" descr="Picture 3"/>
          <p:cNvPicPr>
            <a:picLocks noChangeAspect="1"/>
          </p:cNvPicPr>
          <p:nvPr/>
        </p:nvPicPr>
        <p:blipFill>
          <a:blip r:embed="rId2">
            <a:extLst/>
          </a:blip>
          <a:stretch>
            <a:fillRect/>
          </a:stretch>
        </p:blipFill>
        <p:spPr>
          <a:xfrm>
            <a:off x="2965173" y="390939"/>
            <a:ext cx="3213653" cy="3213653"/>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13" name="Google Shape;61;p14"/>
          <p:cNvSpPr txBox="1"/>
          <p:nvPr>
            <p:ph type="title"/>
          </p:nvPr>
        </p:nvSpPr>
        <p:spPr>
          <a:xfrm>
            <a:off x="311699" y="445025"/>
            <a:ext cx="8520602" cy="572702"/>
          </a:xfrm>
          <a:prstGeom prst="rect">
            <a:avLst/>
          </a:prstGeom>
        </p:spPr>
        <p:txBody>
          <a:bodyPr/>
          <a:lstStyle>
            <a:lvl1pPr algn="ctr">
              <a:defRPr sz="2500">
                <a:solidFill>
                  <a:srgbClr val="EF8B67"/>
                </a:solidFill>
              </a:defRPr>
            </a:lvl1pPr>
          </a:lstStyle>
          <a:p>
            <a:pPr/>
            <a:r>
              <a:t>Problem Statement	</a:t>
            </a:r>
          </a:p>
        </p:txBody>
      </p:sp>
      <p:sp>
        <p:nvSpPr>
          <p:cNvPr id="114" name="Google Shape;62;p14"/>
          <p:cNvSpPr txBox="1"/>
          <p:nvPr>
            <p:ph type="body" sz="half" idx="1"/>
          </p:nvPr>
        </p:nvSpPr>
        <p:spPr>
          <a:xfrm>
            <a:off x="311699" y="1126323"/>
            <a:ext cx="8520602" cy="1952285"/>
          </a:xfrm>
          <a:prstGeom prst="rect">
            <a:avLst/>
          </a:prstGeom>
        </p:spPr>
        <p:txBody>
          <a:bodyPr/>
          <a:lstStyle/>
          <a:p>
            <a:pPr marL="0" indent="0" defTabSz="694944">
              <a:lnSpc>
                <a:spcPct val="92000"/>
              </a:lnSpc>
              <a:buSzTx/>
              <a:buNone/>
              <a:defRPr b="1" sz="1368">
                <a:solidFill>
                  <a:srgbClr val="EF8B67"/>
                </a:solidFill>
              </a:defRPr>
            </a:pPr>
            <a:r>
              <a:t>The Problem</a:t>
            </a:r>
          </a:p>
          <a:p>
            <a:pPr marL="0" indent="0" defTabSz="694944">
              <a:lnSpc>
                <a:spcPct val="92000"/>
              </a:lnSpc>
              <a:spcBef>
                <a:spcPts val="900"/>
              </a:spcBef>
              <a:buSzTx/>
              <a:buNone/>
              <a:defRPr sz="1368"/>
            </a:pPr>
            <a:r>
              <a:t>Millions of people struggle with anxiety panic symptoms, or emotional overwhelm, yet over half never received treatment due to stigma, cost, waitlists, or lack of health insurance.. When symptoms hit, people often have no immediate support, just a phone full of apps that aren’t built  for in the moment regulation.</a:t>
            </a:r>
          </a:p>
          <a:p>
            <a:pPr marL="0" indent="0" defTabSz="694944">
              <a:lnSpc>
                <a:spcPct val="92000"/>
              </a:lnSpc>
              <a:spcBef>
                <a:spcPts val="900"/>
              </a:spcBef>
              <a:buSzTx/>
              <a:buNone/>
              <a:defRPr b="1" sz="1368">
                <a:solidFill>
                  <a:srgbClr val="EF8B67"/>
                </a:solidFill>
              </a:defRPr>
            </a:pPr>
            <a:r>
              <a:t>Why It Matters</a:t>
            </a:r>
          </a:p>
          <a:p>
            <a:pPr marL="0" indent="0" defTabSz="694944">
              <a:lnSpc>
                <a:spcPct val="92000"/>
              </a:lnSpc>
              <a:spcBef>
                <a:spcPts val="900"/>
              </a:spcBef>
              <a:buSzTx/>
              <a:buNone/>
              <a:defRPr sz="1368"/>
            </a:pPr>
            <a:r>
              <a:t>Untreated anxiety and emotional dysregulation can impact work, relationships, school performance, and physical health. People need fast, stigma-free, accessible support they can use anytime, without waiting weeks for an appointment.</a:t>
            </a:r>
          </a:p>
        </p:txBody>
      </p:sp>
      <p:sp>
        <p:nvSpPr>
          <p:cNvPr id="115" name="Google Shape;63;p14"/>
          <p:cNvSpPr/>
          <p:nvPr/>
        </p:nvSpPr>
        <p:spPr>
          <a:xfrm>
            <a:off x="1170450" y="390723"/>
            <a:ext cx="6803100" cy="681304"/>
          </a:xfrm>
          <a:prstGeom prst="rect">
            <a:avLst/>
          </a:prstGeom>
          <a:ln w="38100">
            <a:solidFill>
              <a:srgbClr val="6792C7"/>
            </a:solidFill>
          </a:ln>
        </p:spPr>
        <p:txBody>
          <a:bodyPr lIns="0" tIns="0" rIns="0" bIns="0" anchor="ctr"/>
          <a:lstStyle/>
          <a:p>
            <a:pPr algn="ctr">
              <a:defRPr>
                <a:latin typeface="+mn-lt"/>
                <a:ea typeface="+mn-ea"/>
                <a:cs typeface="+mn-cs"/>
                <a:sym typeface="Arial"/>
              </a:defRPr>
            </a:pPr>
          </a:p>
        </p:txBody>
      </p:sp>
      <p:pic>
        <p:nvPicPr>
          <p:cNvPr id="116" name="images.png" descr="images.png"/>
          <p:cNvPicPr>
            <a:picLocks noChangeAspect="1"/>
          </p:cNvPicPr>
          <p:nvPr/>
        </p:nvPicPr>
        <p:blipFill>
          <a:blip r:embed="rId2">
            <a:extLst/>
          </a:blip>
          <a:stretch>
            <a:fillRect/>
          </a:stretch>
        </p:blipFill>
        <p:spPr>
          <a:xfrm>
            <a:off x="2216150" y="3187205"/>
            <a:ext cx="4711700" cy="1727201"/>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18" name="Google Shape;68;p15"/>
          <p:cNvSpPr txBox="1"/>
          <p:nvPr>
            <p:ph type="title"/>
          </p:nvPr>
        </p:nvSpPr>
        <p:spPr>
          <a:xfrm>
            <a:off x="311699" y="445025"/>
            <a:ext cx="8520602" cy="572702"/>
          </a:xfrm>
          <a:prstGeom prst="rect">
            <a:avLst/>
          </a:prstGeom>
        </p:spPr>
        <p:txBody>
          <a:bodyPr/>
          <a:lstStyle>
            <a:lvl1pPr algn="ctr">
              <a:defRPr sz="2500">
                <a:solidFill>
                  <a:srgbClr val="EF8B67"/>
                </a:solidFill>
              </a:defRPr>
            </a:lvl1pPr>
          </a:lstStyle>
          <a:p>
            <a:pPr/>
            <a:r>
              <a:t>Idea 1: AI Guided Crisis Support App</a:t>
            </a:r>
          </a:p>
        </p:txBody>
      </p:sp>
      <p:sp>
        <p:nvSpPr>
          <p:cNvPr id="119" name="Google Shape;69;p15"/>
          <p:cNvSpPr txBox="1"/>
          <p:nvPr>
            <p:ph type="body" idx="1"/>
          </p:nvPr>
        </p:nvSpPr>
        <p:spPr>
          <a:xfrm>
            <a:off x="311699" y="1152475"/>
            <a:ext cx="8520602" cy="3416400"/>
          </a:xfrm>
          <a:prstGeom prst="rect">
            <a:avLst/>
          </a:prstGeom>
        </p:spPr>
        <p:txBody>
          <a:bodyPr/>
          <a:lstStyle/>
          <a:p>
            <a:pPr marL="0" indent="0">
              <a:lnSpc>
                <a:spcPct val="92000"/>
              </a:lnSpc>
              <a:spcBef>
                <a:spcPts val="1200"/>
              </a:spcBef>
              <a:buSzTx/>
              <a:buNone/>
              <a:defRPr b="1" sz="1500">
                <a:solidFill>
                  <a:srgbClr val="EF8B67"/>
                </a:solidFill>
              </a:defRPr>
            </a:pPr>
            <a:r>
              <a:t>Concept Overview:</a:t>
            </a:r>
            <a:endParaRPr sz="2200"/>
          </a:p>
          <a:p>
            <a:pPr marL="0" indent="0">
              <a:lnSpc>
                <a:spcPct val="92000"/>
              </a:lnSpc>
              <a:spcBef>
                <a:spcPts val="1200"/>
              </a:spcBef>
              <a:buSzTx/>
              <a:buNone/>
              <a:defRPr sz="1400">
                <a:solidFill>
                  <a:srgbClr val="000000"/>
                </a:solidFill>
              </a:defRPr>
            </a:pPr>
            <a:r>
              <a:t>A mobile app that helps users navigate panic attacks, anxiety spikes, racing thoughts, or emotional flooding.</a:t>
            </a:r>
            <a:endParaRPr sz="2000"/>
          </a:p>
          <a:p>
            <a:pPr marL="0" indent="0">
              <a:lnSpc>
                <a:spcPct val="92000"/>
              </a:lnSpc>
              <a:spcBef>
                <a:spcPts val="1200"/>
              </a:spcBef>
              <a:buSzTx/>
              <a:buNone/>
              <a:defRPr b="1" sz="1500">
                <a:solidFill>
                  <a:srgbClr val="EF8B67"/>
                </a:solidFill>
              </a:defRPr>
            </a:pPr>
            <a:r>
              <a:t>Core Features:</a:t>
            </a:r>
            <a:endParaRPr sz="2200"/>
          </a:p>
          <a:p>
            <a:pPr indent="-318179">
              <a:lnSpc>
                <a:spcPct val="92000"/>
              </a:lnSpc>
              <a:spcBef>
                <a:spcPts val="1200"/>
              </a:spcBef>
              <a:buClr>
                <a:schemeClr val="accent4"/>
              </a:buClr>
              <a:buSzPct val="100000"/>
              <a:buChar char="➔"/>
              <a:defRPr sz="1400">
                <a:solidFill>
                  <a:srgbClr val="000000"/>
                </a:solidFill>
              </a:defRPr>
            </a:pPr>
            <a:r>
              <a:t>Tap → choose what you’re experiencing (panic, racing thoughts, overwhelm, etc.)</a:t>
            </a:r>
            <a:endParaRPr sz="2000"/>
          </a:p>
          <a:p>
            <a:pPr indent="-318179">
              <a:lnSpc>
                <a:spcPct val="92000"/>
              </a:lnSpc>
              <a:buClr>
                <a:schemeClr val="accent4"/>
              </a:buClr>
              <a:buSzPct val="100000"/>
              <a:buChar char="➔"/>
              <a:defRPr sz="1400">
                <a:solidFill>
                  <a:srgbClr val="000000"/>
                </a:solidFill>
              </a:defRPr>
            </a:pPr>
            <a:r>
              <a:t>App walks you through grounding steps or breathing</a:t>
            </a:r>
            <a:endParaRPr sz="2000"/>
          </a:p>
          <a:p>
            <a:pPr indent="-318179">
              <a:lnSpc>
                <a:spcPct val="92000"/>
              </a:lnSpc>
              <a:buClr>
                <a:schemeClr val="accent4"/>
              </a:buClr>
              <a:buSzPct val="100000"/>
              <a:buChar char="➔"/>
              <a:defRPr sz="1400">
                <a:solidFill>
                  <a:srgbClr val="000000"/>
                </a:solidFill>
              </a:defRPr>
            </a:pPr>
            <a:r>
              <a:t>Real-time symptom interpretation (“Are you dizzy? Chest tightness? Trouble focusing?”)</a:t>
            </a:r>
            <a:endParaRPr sz="2000"/>
          </a:p>
          <a:p>
            <a:pPr indent="-318179">
              <a:lnSpc>
                <a:spcPct val="92000"/>
              </a:lnSpc>
              <a:buClr>
                <a:schemeClr val="accent4"/>
              </a:buClr>
              <a:buSzPct val="100000"/>
              <a:buChar char="➔"/>
              <a:defRPr sz="1400">
                <a:solidFill>
                  <a:srgbClr val="000000"/>
                </a:solidFill>
              </a:defRPr>
            </a:pPr>
            <a:r>
              <a:t>AI suggests the correct coping flow (backed by research)</a:t>
            </a:r>
            <a:endParaRPr sz="2000"/>
          </a:p>
          <a:p>
            <a:pPr marL="0" indent="0">
              <a:lnSpc>
                <a:spcPct val="92000"/>
              </a:lnSpc>
              <a:spcBef>
                <a:spcPts val="1200"/>
              </a:spcBef>
              <a:buSzTx/>
              <a:buNone/>
              <a:defRPr b="1" sz="1500">
                <a:solidFill>
                  <a:srgbClr val="EF8B67"/>
                </a:solidFill>
              </a:defRPr>
            </a:pPr>
            <a:r>
              <a:t>User Benefit:</a:t>
            </a:r>
            <a:endParaRPr sz="2200"/>
          </a:p>
          <a:p>
            <a:pPr marL="0" indent="0">
              <a:lnSpc>
                <a:spcPct val="92000"/>
              </a:lnSpc>
              <a:spcBef>
                <a:spcPts val="1200"/>
              </a:spcBef>
              <a:buSzTx/>
              <a:buNone/>
              <a:defRPr sz="1400">
                <a:solidFill>
                  <a:srgbClr val="000000"/>
                </a:solidFill>
              </a:defRPr>
            </a:pPr>
            <a:r>
              <a:t>When you can’t think straight, the app does the thinking </a:t>
            </a:r>
            <a:r>
              <a:rPr i="1"/>
              <a:t>for</a:t>
            </a:r>
            <a:r>
              <a:t> you.</a:t>
            </a:r>
          </a:p>
        </p:txBody>
      </p:sp>
      <p:sp>
        <p:nvSpPr>
          <p:cNvPr id="120" name="Google Shape;70;p15"/>
          <p:cNvSpPr/>
          <p:nvPr/>
        </p:nvSpPr>
        <p:spPr>
          <a:xfrm>
            <a:off x="1170450" y="390723"/>
            <a:ext cx="6803100" cy="681304"/>
          </a:xfrm>
          <a:prstGeom prst="rect">
            <a:avLst/>
          </a:prstGeom>
          <a:ln w="38100">
            <a:solidFill>
              <a:srgbClr val="6792C7"/>
            </a:solidFill>
          </a:ln>
        </p:spPr>
        <p:txBody>
          <a:bodyPr lIns="0" tIns="0" rIns="0" bIns="0" anchor="ctr"/>
          <a:lstStyle/>
          <a:p>
            <a:pPr algn="ctr">
              <a:defRPr>
                <a:latin typeface="+mn-lt"/>
                <a:ea typeface="+mn-ea"/>
                <a:cs typeface="+mn-cs"/>
                <a:sym typeface="Arial"/>
              </a:defRPr>
            </a:pPr>
          </a:p>
        </p:txBody>
      </p:sp>
      <p:pic>
        <p:nvPicPr>
          <p:cNvPr id="121" name="Picture 3" descr="Picture 3"/>
          <p:cNvPicPr>
            <a:picLocks noChangeAspect="1"/>
          </p:cNvPicPr>
          <p:nvPr/>
        </p:nvPicPr>
        <p:blipFill>
          <a:blip r:embed="rId2">
            <a:extLst/>
          </a:blip>
          <a:stretch>
            <a:fillRect/>
          </a:stretch>
        </p:blipFill>
        <p:spPr>
          <a:xfrm>
            <a:off x="6600342" y="3148653"/>
            <a:ext cx="1834796" cy="1834796"/>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23" name="Google Shape;82;p17"/>
          <p:cNvSpPr txBox="1"/>
          <p:nvPr>
            <p:ph type="title"/>
          </p:nvPr>
        </p:nvSpPr>
        <p:spPr>
          <a:xfrm>
            <a:off x="311699" y="445025"/>
            <a:ext cx="8520602" cy="572702"/>
          </a:xfrm>
          <a:prstGeom prst="rect">
            <a:avLst/>
          </a:prstGeom>
        </p:spPr>
        <p:txBody>
          <a:bodyPr/>
          <a:lstStyle>
            <a:lvl1pPr algn="ctr">
              <a:defRPr sz="2500">
                <a:solidFill>
                  <a:srgbClr val="EF8B67"/>
                </a:solidFill>
              </a:defRPr>
            </a:lvl1pPr>
          </a:lstStyle>
          <a:p>
            <a:pPr/>
            <a:r>
              <a:t>How AI Is Applied</a:t>
            </a:r>
          </a:p>
        </p:txBody>
      </p:sp>
      <p:sp>
        <p:nvSpPr>
          <p:cNvPr id="124" name="Google Shape;83;p17"/>
          <p:cNvSpPr txBox="1"/>
          <p:nvPr>
            <p:ph type="body" idx="1"/>
          </p:nvPr>
        </p:nvSpPr>
        <p:spPr>
          <a:xfrm>
            <a:off x="266249" y="1205482"/>
            <a:ext cx="5749693" cy="3416403"/>
          </a:xfrm>
          <a:prstGeom prst="rect">
            <a:avLst/>
          </a:prstGeom>
        </p:spPr>
        <p:txBody>
          <a:bodyPr/>
          <a:lstStyle/>
          <a:p>
            <a:pPr marL="0" indent="0" defTabSz="841247">
              <a:spcBef>
                <a:spcPts val="1100"/>
              </a:spcBef>
              <a:buSzTx/>
              <a:buNone/>
              <a:defRPr b="1" sz="1564">
                <a:solidFill>
                  <a:srgbClr val="EF8B67"/>
                </a:solidFill>
              </a:defRPr>
            </a:pPr>
            <a:r>
              <a:t>AI Usage (High Level, Non-Clinical):</a:t>
            </a:r>
          </a:p>
          <a:p>
            <a:pPr marL="420623" indent="-297942" defTabSz="841247">
              <a:spcBef>
                <a:spcPts val="1100"/>
              </a:spcBef>
              <a:buClr>
                <a:srgbClr val="856886"/>
              </a:buClr>
              <a:buSzPts val="1300"/>
              <a:buChar char="➔"/>
              <a:defRPr sz="1380">
                <a:solidFill>
                  <a:srgbClr val="000000"/>
                </a:solidFill>
              </a:defRPr>
            </a:pPr>
            <a:r>
              <a:t>Classifies the user’s chosen symptoms to match them with the right support flow</a:t>
            </a:r>
          </a:p>
          <a:p>
            <a:pPr marL="420623" indent="-297942" defTabSz="841247">
              <a:buClr>
                <a:srgbClr val="856886"/>
              </a:buClr>
              <a:buSzPts val="1300"/>
              <a:buChar char="➔"/>
              <a:defRPr sz="1380">
                <a:solidFill>
                  <a:srgbClr val="000000"/>
                </a:solidFill>
              </a:defRPr>
            </a:pPr>
            <a:r>
              <a:t>Adapts coping steps based on previous user choices (personalized but simple)</a:t>
            </a:r>
          </a:p>
          <a:p>
            <a:pPr marL="420623" indent="-297942" defTabSz="841247">
              <a:buClr>
                <a:srgbClr val="856886"/>
              </a:buClr>
              <a:buSzPts val="1300"/>
              <a:buChar char="➔"/>
              <a:defRPr sz="1380">
                <a:solidFill>
                  <a:srgbClr val="000000"/>
                </a:solidFill>
              </a:defRPr>
            </a:pPr>
            <a:r>
              <a:t>Identifies patterns in user logs (optional feature) to recommend tools that work best for them</a:t>
            </a:r>
            <a:br/>
          </a:p>
          <a:p>
            <a:pPr marL="0" indent="0" defTabSz="841247">
              <a:spcBef>
                <a:spcPts val="1100"/>
              </a:spcBef>
              <a:buSzTx/>
              <a:buNone/>
              <a:defRPr b="1" sz="1564">
                <a:solidFill>
                  <a:srgbClr val="EF8B67"/>
                </a:solidFill>
              </a:defRPr>
            </a:pPr>
            <a:r>
              <a:t>Important Note:</a:t>
            </a:r>
          </a:p>
          <a:p>
            <a:pPr marL="0" indent="0" defTabSz="841247">
              <a:spcBef>
                <a:spcPts val="1100"/>
              </a:spcBef>
              <a:buSzTx/>
              <a:buNone/>
              <a:defRPr sz="1380">
                <a:solidFill>
                  <a:srgbClr val="000000"/>
                </a:solidFill>
              </a:defRPr>
            </a:pPr>
            <a:r>
              <a:t>The AI </a:t>
            </a:r>
            <a:r>
              <a:rPr i="1"/>
              <a:t>does not diagnose</a:t>
            </a:r>
            <a:r>
              <a:t>. It only helps choose the appropriate coping flow based on user input. We can use science backed research and experts in the field to avoid negative results</a:t>
            </a:r>
          </a:p>
        </p:txBody>
      </p:sp>
      <p:sp>
        <p:nvSpPr>
          <p:cNvPr id="125" name="Google Shape;84;p17"/>
          <p:cNvSpPr/>
          <p:nvPr/>
        </p:nvSpPr>
        <p:spPr>
          <a:xfrm>
            <a:off x="1125000" y="390723"/>
            <a:ext cx="6803100" cy="681304"/>
          </a:xfrm>
          <a:prstGeom prst="rect">
            <a:avLst/>
          </a:prstGeom>
          <a:ln w="38100">
            <a:solidFill>
              <a:srgbClr val="6792C7"/>
            </a:solidFill>
          </a:ln>
        </p:spPr>
        <p:txBody>
          <a:bodyPr lIns="0" tIns="0" rIns="0" bIns="0" anchor="ctr"/>
          <a:lstStyle/>
          <a:p>
            <a:pPr algn="r">
              <a:defRPr>
                <a:latin typeface="+mn-lt"/>
                <a:ea typeface="+mn-ea"/>
                <a:cs typeface="+mn-cs"/>
                <a:sym typeface="Arial"/>
              </a:defRPr>
            </a:pPr>
          </a:p>
        </p:txBody>
      </p:sp>
      <p:pic>
        <p:nvPicPr>
          <p:cNvPr id="126" name="StressFirstAid2.png" descr="StressFirstAid2.png"/>
          <p:cNvPicPr>
            <a:picLocks noChangeAspect="1"/>
          </p:cNvPicPr>
          <p:nvPr/>
        </p:nvPicPr>
        <p:blipFill>
          <a:blip r:embed="rId2">
            <a:extLst/>
          </a:blip>
          <a:stretch>
            <a:fillRect/>
          </a:stretch>
        </p:blipFill>
        <p:spPr>
          <a:xfrm>
            <a:off x="5955264" y="1262696"/>
            <a:ext cx="2559850" cy="3063964"/>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28" name="Uses classification to label a users state: panic spike, rising anxiety, overwhelm, grounding needed…"/>
          <p:cNvSpPr txBox="1"/>
          <p:nvPr>
            <p:ph type="body" sz="half" idx="1"/>
          </p:nvPr>
        </p:nvSpPr>
        <p:spPr>
          <a:xfrm>
            <a:off x="311699" y="1152475"/>
            <a:ext cx="8678940" cy="1595517"/>
          </a:xfrm>
          <a:prstGeom prst="rect">
            <a:avLst/>
          </a:prstGeom>
        </p:spPr>
        <p:txBody>
          <a:bodyPr/>
          <a:lstStyle/>
          <a:p>
            <a:pPr marL="444500" indent="-304800" defTabSz="12700">
              <a:lnSpc>
                <a:spcPct val="100000"/>
              </a:lnSpc>
              <a:spcBef>
                <a:spcPts val="200"/>
              </a:spcBef>
              <a:buClr>
                <a:srgbClr val="856886"/>
              </a:buClr>
              <a:buSzPts val="1500"/>
              <a:buChar char="➔"/>
              <a:tabLst>
                <a:tab pos="63500" algn="r"/>
                <a:tab pos="165100" algn="l"/>
              </a:tabLst>
              <a:defRPr sz="1500">
                <a:solidFill>
                  <a:srgbClr val="111111"/>
                </a:solidFill>
              </a:defRPr>
            </a:pPr>
          </a:p>
          <a:p>
            <a:pPr marL="444500" indent="-304800" defTabSz="12700">
              <a:lnSpc>
                <a:spcPct val="100000"/>
              </a:lnSpc>
              <a:spcBef>
                <a:spcPts val="200"/>
              </a:spcBef>
              <a:buClr>
                <a:srgbClr val="6792C7"/>
              </a:buClr>
              <a:buSzPts val="1500"/>
              <a:buChar char="➔"/>
              <a:tabLst>
                <a:tab pos="63500" algn="r"/>
                <a:tab pos="165100" algn="l"/>
              </a:tabLst>
              <a:defRPr sz="1500">
                <a:solidFill>
                  <a:srgbClr val="111111"/>
                </a:solidFill>
              </a:defRPr>
            </a:pPr>
            <a:r>
              <a:t>Uses classification to label a users state: panic spike, rising anxiety, overwhelm, grounding needed</a:t>
            </a:r>
          </a:p>
          <a:p>
            <a:pPr marL="444500" indent="-304800" defTabSz="12700">
              <a:lnSpc>
                <a:spcPct val="100000"/>
              </a:lnSpc>
              <a:spcBef>
                <a:spcPts val="200"/>
              </a:spcBef>
              <a:buClr>
                <a:srgbClr val="6792C7"/>
              </a:buClr>
              <a:buSzPts val="1500"/>
              <a:buChar char="➔"/>
              <a:tabLst>
                <a:tab pos="63500" algn="r"/>
                <a:tab pos="165100" algn="l"/>
              </a:tabLst>
              <a:defRPr sz="1500">
                <a:solidFill>
                  <a:srgbClr val="111111"/>
                </a:solidFill>
              </a:defRPr>
            </a:pPr>
            <a:r>
              <a:t>Uses lightweight NLP to interpret short quick user text - “my chest is tight,” “I can’t focus”</a:t>
            </a:r>
          </a:p>
          <a:p>
            <a:pPr marL="444500" indent="-304800" defTabSz="12700">
              <a:lnSpc>
                <a:spcPct val="100000"/>
              </a:lnSpc>
              <a:spcBef>
                <a:spcPts val="200"/>
              </a:spcBef>
              <a:buClr>
                <a:srgbClr val="6792C7"/>
              </a:buClr>
              <a:buSzPts val="1500"/>
              <a:buChar char="➔"/>
              <a:tabLst>
                <a:tab pos="63500" algn="r"/>
                <a:tab pos="165100" algn="l"/>
              </a:tabLst>
              <a:defRPr sz="1500">
                <a:solidFill>
                  <a:srgbClr val="111111"/>
                </a:solidFill>
              </a:defRPr>
            </a:pPr>
            <a:r>
              <a:t>Uses a rule based flow engine to pick the right coping script for the user (breathing, grounding)</a:t>
            </a:r>
          </a:p>
          <a:p>
            <a:pPr marL="444500" indent="-304800" defTabSz="12700">
              <a:lnSpc>
                <a:spcPct val="100000"/>
              </a:lnSpc>
              <a:spcBef>
                <a:spcPts val="200"/>
              </a:spcBef>
              <a:buClr>
                <a:srgbClr val="6792C7"/>
              </a:buClr>
              <a:buSzPts val="1500"/>
              <a:buChar char="➔"/>
              <a:tabLst>
                <a:tab pos="63500" algn="r"/>
                <a:tab pos="165100" algn="l"/>
              </a:tabLst>
              <a:defRPr sz="1500">
                <a:solidFill>
                  <a:srgbClr val="111111"/>
                </a:solidFill>
              </a:defRPr>
            </a:pPr>
            <a:r>
              <a:t>Makes sure to stay non-clinical (no diagnosis, no therapy advice)</a:t>
            </a:r>
          </a:p>
        </p:txBody>
      </p:sp>
      <p:sp>
        <p:nvSpPr>
          <p:cNvPr id="129" name="Google Shape;84;p17"/>
          <p:cNvSpPr/>
          <p:nvPr/>
        </p:nvSpPr>
        <p:spPr>
          <a:xfrm>
            <a:off x="1125000" y="390723"/>
            <a:ext cx="6803100" cy="681304"/>
          </a:xfrm>
          <a:prstGeom prst="rect">
            <a:avLst/>
          </a:prstGeom>
          <a:ln w="38100">
            <a:solidFill>
              <a:srgbClr val="6792C7"/>
            </a:solidFill>
          </a:ln>
        </p:spPr>
        <p:txBody>
          <a:bodyPr lIns="0" tIns="0" rIns="0" bIns="0" anchor="ctr"/>
          <a:lstStyle/>
          <a:p>
            <a:pPr algn="r">
              <a:defRPr>
                <a:latin typeface="+mn-lt"/>
                <a:ea typeface="+mn-ea"/>
                <a:cs typeface="+mn-cs"/>
                <a:sym typeface="Arial"/>
              </a:defRPr>
            </a:pPr>
          </a:p>
        </p:txBody>
      </p:sp>
      <p:sp>
        <p:nvSpPr>
          <p:cNvPr id="130" name="Google Shape;82;p17"/>
          <p:cNvSpPr txBox="1"/>
          <p:nvPr/>
        </p:nvSpPr>
        <p:spPr>
          <a:xfrm>
            <a:off x="266250" y="445023"/>
            <a:ext cx="8520601" cy="572704"/>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ormAutofit fontScale="100000" lnSpcReduction="0"/>
          </a:bodyPr>
          <a:lstStyle>
            <a:lvl1pPr algn="ctr">
              <a:defRPr sz="2500">
                <a:solidFill>
                  <a:srgbClr val="EF8B67"/>
                </a:solidFill>
                <a:latin typeface="+mn-lt"/>
                <a:ea typeface="+mn-ea"/>
                <a:cs typeface="+mn-cs"/>
                <a:sym typeface="Arial"/>
              </a:defRPr>
            </a:lvl1pPr>
          </a:lstStyle>
          <a:p>
            <a:pPr/>
            <a:r>
              <a:t>AI Method: How CalmStep Thinks</a:t>
            </a:r>
          </a:p>
        </p:txBody>
      </p:sp>
      <p:pic>
        <p:nvPicPr>
          <p:cNvPr id="131" name="pasted-movie.png" descr="pasted-movie.png"/>
          <p:cNvPicPr>
            <a:picLocks noChangeAspect="1"/>
          </p:cNvPicPr>
          <p:nvPr/>
        </p:nvPicPr>
        <p:blipFill>
          <a:blip r:embed="rId2">
            <a:extLst/>
          </a:blip>
          <a:stretch>
            <a:fillRect/>
          </a:stretch>
        </p:blipFill>
        <p:spPr>
          <a:xfrm>
            <a:off x="377536" y="2811894"/>
            <a:ext cx="2003552" cy="2314783"/>
          </a:xfrm>
          <a:prstGeom prst="rect">
            <a:avLst/>
          </a:prstGeom>
          <a:ln w="12700">
            <a:miter lim="400000"/>
          </a:ln>
        </p:spPr>
      </p:pic>
      <p:pic>
        <p:nvPicPr>
          <p:cNvPr id="132" name="pasted-movie.png" descr="pasted-movie.png"/>
          <p:cNvPicPr>
            <a:picLocks noChangeAspect="1"/>
          </p:cNvPicPr>
          <p:nvPr/>
        </p:nvPicPr>
        <p:blipFill>
          <a:blip r:embed="rId3">
            <a:extLst/>
          </a:blip>
          <a:stretch>
            <a:fillRect/>
          </a:stretch>
        </p:blipFill>
        <p:spPr>
          <a:xfrm>
            <a:off x="3510477" y="2811894"/>
            <a:ext cx="2003552" cy="2314783"/>
          </a:xfrm>
          <a:prstGeom prst="rect">
            <a:avLst/>
          </a:prstGeom>
          <a:ln w="12700">
            <a:miter lim="400000"/>
          </a:ln>
        </p:spPr>
      </p:pic>
      <p:pic>
        <p:nvPicPr>
          <p:cNvPr id="133" name="pasted-movie.png" descr="pasted-movie.png"/>
          <p:cNvPicPr>
            <a:picLocks noChangeAspect="1"/>
          </p:cNvPicPr>
          <p:nvPr/>
        </p:nvPicPr>
        <p:blipFill>
          <a:blip r:embed="rId4">
            <a:extLst/>
          </a:blip>
          <a:stretch>
            <a:fillRect/>
          </a:stretch>
        </p:blipFill>
        <p:spPr>
          <a:xfrm>
            <a:off x="6591300" y="2813298"/>
            <a:ext cx="2003551" cy="2313379"/>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35" name="Open mental-health dataset…"/>
          <p:cNvSpPr txBox="1"/>
          <p:nvPr>
            <p:ph type="body" sz="half" idx="1"/>
          </p:nvPr>
        </p:nvSpPr>
        <p:spPr>
          <a:xfrm>
            <a:off x="311699" y="1152475"/>
            <a:ext cx="5195511" cy="3416400"/>
          </a:xfrm>
          <a:prstGeom prst="rect">
            <a:avLst/>
          </a:prstGeom>
        </p:spPr>
        <p:txBody>
          <a:bodyPr/>
          <a:lstStyle/>
          <a:p>
            <a:pPr marL="414019" indent="-280669" defTabSz="12700">
              <a:lnSpc>
                <a:spcPct val="110000"/>
              </a:lnSpc>
              <a:buClr>
                <a:srgbClr val="6792C7"/>
              </a:buClr>
              <a:buSzPts val="1600"/>
              <a:buChar char="➔"/>
              <a:tabLst>
                <a:tab pos="63500" algn="r"/>
                <a:tab pos="165100" algn="l"/>
              </a:tabLst>
              <a:defRPr sz="1600">
                <a:solidFill>
                  <a:srgbClr val="111111"/>
                </a:solidFill>
                <a:latin typeface="+mj-lt"/>
                <a:ea typeface="+mj-ea"/>
                <a:cs typeface="+mj-cs"/>
                <a:sym typeface="Helvetica"/>
              </a:defRPr>
            </a:pPr>
          </a:p>
          <a:p>
            <a:pPr marL="414019" indent="-280669" defTabSz="12700">
              <a:lnSpc>
                <a:spcPct val="110000"/>
              </a:lnSpc>
              <a:buClr>
                <a:srgbClr val="6792C7"/>
              </a:buClr>
              <a:buSzPts val="1600"/>
              <a:buChar char="➔"/>
              <a:tabLst>
                <a:tab pos="63500" algn="r"/>
                <a:tab pos="165100" algn="l"/>
              </a:tabLst>
              <a:defRPr sz="1600">
                <a:solidFill>
                  <a:srgbClr val="111111"/>
                </a:solidFill>
                <a:latin typeface="+mj-lt"/>
                <a:ea typeface="+mj-ea"/>
                <a:cs typeface="+mj-cs"/>
                <a:sym typeface="Helvetica"/>
              </a:defRPr>
            </a:pPr>
            <a:r>
              <a:t>	Open mental-health dataset</a:t>
            </a:r>
          </a:p>
          <a:p>
            <a:pPr lvl="1" marL="877569" indent="-280669" defTabSz="12700">
              <a:lnSpc>
                <a:spcPct val="110000"/>
              </a:lnSpc>
              <a:buClr>
                <a:srgbClr val="6792C7"/>
              </a:buClr>
              <a:buSzPts val="1600"/>
              <a:tabLst>
                <a:tab pos="63500" algn="r"/>
                <a:tab pos="165100" algn="l"/>
              </a:tabLst>
              <a:defRPr sz="1600">
                <a:solidFill>
                  <a:srgbClr val="111111"/>
                </a:solidFill>
                <a:latin typeface="+mj-lt"/>
                <a:ea typeface="+mj-ea"/>
                <a:cs typeface="+mj-cs"/>
                <a:sym typeface="Helvetica"/>
              </a:defRPr>
            </a:pPr>
            <a:r>
              <a:t>Kaggle, survey-style for stress/anxiety data</a:t>
            </a:r>
          </a:p>
          <a:p>
            <a:pPr marL="414019" indent="-280669" defTabSz="12700">
              <a:lnSpc>
                <a:spcPct val="110000"/>
              </a:lnSpc>
              <a:buClr>
                <a:srgbClr val="6792C7"/>
              </a:buClr>
              <a:buSzPts val="1600"/>
              <a:buChar char="➔"/>
              <a:tabLst>
                <a:tab pos="63500" algn="r"/>
                <a:tab pos="165100" algn="l"/>
              </a:tabLst>
              <a:defRPr sz="1600">
                <a:solidFill>
                  <a:srgbClr val="111111"/>
                </a:solidFill>
                <a:latin typeface="+mj-lt"/>
                <a:ea typeface="+mj-ea"/>
                <a:cs typeface="+mj-cs"/>
                <a:sym typeface="Helvetica"/>
              </a:defRPr>
            </a:pPr>
            <a:r>
              <a:t>		Synthetic messages based on public symptom descriptions</a:t>
            </a:r>
          </a:p>
          <a:p>
            <a:pPr lvl="1" marL="877569" indent="-280669" defTabSz="12700">
              <a:lnSpc>
                <a:spcPct val="110000"/>
              </a:lnSpc>
              <a:buClr>
                <a:srgbClr val="6792C7"/>
              </a:buClr>
              <a:buSzPts val="1600"/>
              <a:tabLst>
                <a:tab pos="63500" algn="r"/>
                <a:tab pos="165100" algn="l"/>
              </a:tabLst>
              <a:defRPr sz="1600">
                <a:solidFill>
                  <a:srgbClr val="111111"/>
                </a:solidFill>
                <a:latin typeface="+mj-lt"/>
                <a:ea typeface="+mj-ea"/>
                <a:cs typeface="+mj-cs"/>
                <a:sym typeface="Helvetica"/>
              </a:defRPr>
            </a:pPr>
            <a:r>
              <a:t>CDC, Mayo Clinic, NIMH</a:t>
            </a:r>
          </a:p>
          <a:p>
            <a:pPr marL="414019" indent="-280669" defTabSz="12700">
              <a:lnSpc>
                <a:spcPct val="110000"/>
              </a:lnSpc>
              <a:buClr>
                <a:srgbClr val="6792C7"/>
              </a:buClr>
              <a:buSzPts val="1600"/>
              <a:buChar char="➔"/>
              <a:tabLst>
                <a:tab pos="63500" algn="r"/>
                <a:tab pos="165100" algn="l"/>
              </a:tabLst>
              <a:defRPr sz="1600">
                <a:solidFill>
                  <a:srgbClr val="111111"/>
                </a:solidFill>
                <a:latin typeface="+mj-lt"/>
                <a:ea typeface="+mj-ea"/>
                <a:cs typeface="+mj-cs"/>
                <a:sym typeface="Helvetica"/>
              </a:defRPr>
            </a:pPr>
            <a:r>
              <a:t>		Data types:</a:t>
            </a:r>
          </a:p>
          <a:p>
            <a:pPr lvl="1" marL="877569" indent="-280669" defTabSz="12700">
              <a:lnSpc>
                <a:spcPct val="110000"/>
              </a:lnSpc>
              <a:buClr>
                <a:srgbClr val="6792C7"/>
              </a:buClr>
              <a:buSzPts val="1600"/>
              <a:tabLst>
                <a:tab pos="63500" algn="r"/>
                <a:tab pos="165100" algn="l"/>
              </a:tabLst>
              <a:defRPr sz="1600">
                <a:solidFill>
                  <a:srgbClr val="111111"/>
                </a:solidFill>
                <a:latin typeface="+mj-lt"/>
                <a:ea typeface="+mj-ea"/>
                <a:cs typeface="+mj-cs"/>
                <a:sym typeface="Helvetica"/>
              </a:defRPr>
            </a:pPr>
            <a:r>
              <a:t>short text, labels (panic/stress/overwhelm)</a:t>
            </a:r>
          </a:p>
          <a:p>
            <a:pPr lvl="1" marL="877569" indent="-280669" defTabSz="12700">
              <a:lnSpc>
                <a:spcPct val="110000"/>
              </a:lnSpc>
              <a:buClr>
                <a:srgbClr val="6792C7"/>
              </a:buClr>
              <a:buSzPts val="1600"/>
              <a:tabLst>
                <a:tab pos="63500" algn="r"/>
                <a:tab pos="165100" algn="l"/>
              </a:tabLst>
              <a:defRPr sz="1600">
                <a:solidFill>
                  <a:srgbClr val="111111"/>
                </a:solidFill>
                <a:latin typeface="+mj-lt"/>
                <a:ea typeface="+mj-ea"/>
                <a:cs typeface="+mj-cs"/>
                <a:sym typeface="Helvetica"/>
              </a:defRPr>
            </a:pPr>
            <a:r>
              <a:t>timestamps to track patterns</a:t>
            </a:r>
          </a:p>
          <a:p>
            <a:pPr marL="414019" indent="-280669" defTabSz="12700">
              <a:lnSpc>
                <a:spcPct val="110000"/>
              </a:lnSpc>
              <a:buClr>
                <a:srgbClr val="6792C7"/>
              </a:buClr>
              <a:buSzPts val="16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solidFill>
                  <a:srgbClr val="111111"/>
                </a:solidFill>
                <a:latin typeface="Helvetica Neue"/>
                <a:ea typeface="Helvetica Neue"/>
                <a:cs typeface="Helvetica Neue"/>
                <a:sym typeface="Helvetica Neue"/>
              </a:defRPr>
            </a:pPr>
            <a:r>
              <a:t>Not a diagnostic tool; must clearly say “support only, not emergency service”</a:t>
            </a:r>
          </a:p>
          <a:p>
            <a:pPr lvl="1" marL="877569" indent="-280669" defTabSz="12700">
              <a:lnSpc>
                <a:spcPct val="110000"/>
              </a:lnSpc>
              <a:buClr>
                <a:srgbClr val="6792C7"/>
              </a:buClr>
              <a:buSzPts val="16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solidFill>
                  <a:srgbClr val="111111"/>
                </a:solidFill>
                <a:latin typeface="Helvetica Neue"/>
                <a:ea typeface="Helvetica Neue"/>
                <a:cs typeface="Helvetica Neue"/>
                <a:sym typeface="Helvetica Neue"/>
              </a:defRPr>
            </a:pPr>
            <a:r>
              <a:t>To stay compliant and transparent</a:t>
            </a:r>
          </a:p>
        </p:txBody>
      </p:sp>
      <p:sp>
        <p:nvSpPr>
          <p:cNvPr id="136" name="Google Shape;84;p17"/>
          <p:cNvSpPr/>
          <p:nvPr/>
        </p:nvSpPr>
        <p:spPr>
          <a:xfrm>
            <a:off x="1125000" y="390723"/>
            <a:ext cx="6803100" cy="681304"/>
          </a:xfrm>
          <a:prstGeom prst="rect">
            <a:avLst/>
          </a:prstGeom>
          <a:ln w="38100">
            <a:solidFill>
              <a:srgbClr val="EF8B67"/>
            </a:solidFill>
          </a:ln>
        </p:spPr>
        <p:txBody>
          <a:bodyPr lIns="0" tIns="0" rIns="0" bIns="0" anchor="ctr"/>
          <a:lstStyle/>
          <a:p>
            <a:pPr algn="r">
              <a:defRPr>
                <a:latin typeface="+mn-lt"/>
                <a:ea typeface="+mn-ea"/>
                <a:cs typeface="+mn-cs"/>
                <a:sym typeface="Arial"/>
              </a:defRPr>
            </a:pPr>
          </a:p>
        </p:txBody>
      </p:sp>
      <p:sp>
        <p:nvSpPr>
          <p:cNvPr id="137" name="Google Shape;82;p17"/>
          <p:cNvSpPr txBox="1"/>
          <p:nvPr/>
        </p:nvSpPr>
        <p:spPr>
          <a:xfrm>
            <a:off x="311699" y="445025"/>
            <a:ext cx="8520602" cy="572702"/>
          </a:xfrm>
          <a:prstGeom prst="rect">
            <a:avLst/>
          </a:prstGeom>
          <a:ln w="12700">
            <a:miter lim="400000"/>
          </a:ln>
          <a:extLst>
            <a:ext uri="{C572A759-6A51-4108-AA02-DFA0A04FC94B}">
              <ma14:wrappingTextBoxFlag xmlns:ma14="http://schemas.microsoft.com/office/mac/drawingml/2011/main" val="1"/>
            </a:ext>
          </a:extLst>
        </p:spPr>
        <p:txBody>
          <a:bodyPr lIns="91423" tIns="91423" rIns="91423" bIns="91423">
            <a:normAutofit fontScale="100000" lnSpcReduction="0"/>
          </a:bodyPr>
          <a:lstStyle>
            <a:lvl1pPr algn="ctr">
              <a:defRPr sz="2500">
                <a:solidFill>
                  <a:srgbClr val="6792C7"/>
                </a:solidFill>
                <a:latin typeface="+mn-lt"/>
                <a:ea typeface="+mn-ea"/>
                <a:cs typeface="+mn-cs"/>
                <a:sym typeface="Arial"/>
              </a:defRPr>
            </a:lvl1pPr>
          </a:lstStyle>
          <a:p>
            <a:pPr/>
            <a:r>
              <a:t>Data Plan: Sources &amp; Types</a:t>
            </a:r>
          </a:p>
        </p:txBody>
      </p:sp>
      <p:pic>
        <p:nvPicPr>
          <p:cNvPr id="138" name="w1600.png" descr="w1600.png"/>
          <p:cNvPicPr>
            <a:picLocks noChangeAspect="1"/>
          </p:cNvPicPr>
          <p:nvPr/>
        </p:nvPicPr>
        <p:blipFill>
          <a:blip r:embed="rId2">
            <a:extLst/>
          </a:blip>
          <a:stretch>
            <a:fillRect/>
          </a:stretch>
        </p:blipFill>
        <p:spPr>
          <a:xfrm>
            <a:off x="5660680" y="1635062"/>
            <a:ext cx="3355328" cy="2797156"/>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40" name="NLP can misread slang or even vague messages…"/>
          <p:cNvSpPr txBox="1"/>
          <p:nvPr>
            <p:ph type="body" sz="half" idx="1"/>
          </p:nvPr>
        </p:nvSpPr>
        <p:spPr>
          <a:xfrm>
            <a:off x="470036" y="1244838"/>
            <a:ext cx="5010785" cy="3416401"/>
          </a:xfrm>
          <a:prstGeom prst="rect">
            <a:avLst/>
          </a:prstGeom>
        </p:spPr>
        <p:txBody>
          <a:bodyPr/>
          <a:lstStyle/>
          <a:p>
            <a:pPr marL="414019" indent="-280669" defTabSz="12700">
              <a:lnSpc>
                <a:spcPct val="100000"/>
              </a:lnSpc>
              <a:buClr>
                <a:srgbClr val="6792C7"/>
              </a:buClr>
              <a:buSzPts val="1700"/>
              <a:buChar char="➔"/>
              <a:tabLst>
                <a:tab pos="63500" algn="r"/>
                <a:tab pos="165100" algn="l"/>
              </a:tabLst>
              <a:defRPr sz="1700">
                <a:solidFill>
                  <a:srgbClr val="111111"/>
                </a:solidFill>
                <a:latin typeface="+mj-lt"/>
                <a:ea typeface="+mj-ea"/>
                <a:cs typeface="+mj-cs"/>
                <a:sym typeface="Helvetica"/>
              </a:defRPr>
            </a:pPr>
            <a:r>
              <a:t>NLP can misread slang or even vague messages</a:t>
            </a:r>
          </a:p>
          <a:p>
            <a:pPr marL="414019" indent="-280669" defTabSz="12700">
              <a:lnSpc>
                <a:spcPct val="100000"/>
              </a:lnSpc>
              <a:buClr>
                <a:srgbClr val="6792C7"/>
              </a:buClr>
              <a:buSzPts val="1700"/>
              <a:buChar char="➔"/>
              <a:tabLst>
                <a:tab pos="63500" algn="r"/>
                <a:tab pos="165100" algn="l"/>
              </a:tabLst>
              <a:defRPr sz="1700">
                <a:solidFill>
                  <a:srgbClr val="111111"/>
                </a:solidFill>
                <a:latin typeface="+mj-lt"/>
                <a:ea typeface="+mj-ea"/>
                <a:cs typeface="+mj-cs"/>
                <a:sym typeface="Helvetica"/>
              </a:defRPr>
            </a:pPr>
          </a:p>
          <a:p>
            <a:pPr marL="414019" indent="-280669" defTabSz="12700">
              <a:lnSpc>
                <a:spcPct val="100000"/>
              </a:lnSpc>
              <a:buClr>
                <a:srgbClr val="6792C7"/>
              </a:buClr>
              <a:buSzPts val="1700"/>
              <a:buChar char="➔"/>
              <a:tabLst>
                <a:tab pos="63500" algn="r"/>
                <a:tab pos="165100" algn="l"/>
              </a:tabLst>
              <a:defRPr sz="1700">
                <a:solidFill>
                  <a:srgbClr val="111111"/>
                </a:solidFill>
                <a:latin typeface="+mj-lt"/>
                <a:ea typeface="+mj-ea"/>
                <a:cs typeface="+mj-cs"/>
                <a:sym typeface="Helvetica"/>
              </a:defRPr>
            </a:pPr>
            <a:r>
              <a:t>	Some users will be in true medical or safety crisis</a:t>
            </a:r>
          </a:p>
          <a:p>
            <a:pPr lvl="1" marL="877569" indent="-280669" defTabSz="12700">
              <a:lnSpc>
                <a:spcPct val="100000"/>
              </a:lnSpc>
              <a:buClr>
                <a:srgbClr val="6792C7"/>
              </a:buClr>
              <a:buSzPts val="1700"/>
              <a:tabLst>
                <a:tab pos="63500" algn="r"/>
                <a:tab pos="165100" algn="l"/>
              </a:tabLst>
              <a:defRPr sz="1700">
                <a:solidFill>
                  <a:srgbClr val="111111"/>
                </a:solidFill>
                <a:latin typeface="+mj-lt"/>
                <a:ea typeface="+mj-ea"/>
                <a:cs typeface="+mj-cs"/>
                <a:sym typeface="Helvetica"/>
              </a:defRPr>
            </a:pPr>
            <a:r>
              <a:t>Will need to route to </a:t>
            </a:r>
            <a:r>
              <a:rPr>
                <a:latin typeface="Helvetica Neue"/>
                <a:ea typeface="Helvetica Neue"/>
                <a:cs typeface="Helvetica Neue"/>
                <a:sym typeface="Helvetica Neue"/>
              </a:rPr>
              <a:t>988/emergency</a:t>
            </a:r>
            <a:endParaRPr>
              <a:latin typeface="Helvetica Neue"/>
              <a:ea typeface="Helvetica Neue"/>
              <a:cs typeface="Helvetica Neue"/>
              <a:sym typeface="Helvetica Neue"/>
            </a:endParaRPr>
          </a:p>
          <a:p>
            <a:pPr lvl="1" marL="877569" indent="-280669" defTabSz="12700">
              <a:lnSpc>
                <a:spcPct val="100000"/>
              </a:lnSpc>
              <a:buClr>
                <a:srgbClr val="6792C7"/>
              </a:buClr>
              <a:buSzPts val="1700"/>
              <a:tabLst>
                <a:tab pos="63500" algn="r"/>
                <a:tab pos="165100" algn="l"/>
              </a:tabLst>
              <a:defRPr sz="1700">
                <a:solidFill>
                  <a:srgbClr val="111111"/>
                </a:solidFill>
                <a:latin typeface="+mj-lt"/>
                <a:ea typeface="+mj-ea"/>
                <a:cs typeface="+mj-cs"/>
                <a:sym typeface="Helvetica"/>
              </a:defRPr>
            </a:pPr>
          </a:p>
          <a:p>
            <a:pPr marL="414019" indent="-280669" defTabSz="12700">
              <a:lnSpc>
                <a:spcPct val="100000"/>
              </a:lnSpc>
              <a:buClr>
                <a:srgbClr val="6792C7"/>
              </a:buClr>
              <a:buSzPts val="1700"/>
              <a:buChar char="➔"/>
              <a:tabLst>
                <a:tab pos="63500" algn="r"/>
                <a:tab pos="165100" algn="l"/>
              </a:tabLst>
              <a:defRPr sz="1700">
                <a:solidFill>
                  <a:srgbClr val="111111"/>
                </a:solidFill>
                <a:latin typeface="+mj-lt"/>
                <a:ea typeface="+mj-ea"/>
                <a:cs typeface="+mj-cs"/>
                <a:sym typeface="Helvetica"/>
              </a:defRPr>
            </a:pPr>
            <a:r>
              <a:t>	Bias risk: models may perform differently across cultures/languages</a:t>
            </a:r>
          </a:p>
          <a:p>
            <a:pPr lvl="1" marL="877569" indent="-280669" defTabSz="12700">
              <a:lnSpc>
                <a:spcPct val="100000"/>
              </a:lnSpc>
              <a:buClr>
                <a:srgbClr val="6792C7"/>
              </a:buClr>
              <a:buSzPts val="1700"/>
              <a:tabLst>
                <a:tab pos="63500" algn="r"/>
                <a:tab pos="165100" algn="l"/>
              </a:tabLst>
              <a:defRPr sz="1700">
                <a:solidFill>
                  <a:srgbClr val="111111"/>
                </a:solidFill>
                <a:latin typeface="+mj-lt"/>
                <a:ea typeface="+mj-ea"/>
                <a:cs typeface="+mj-cs"/>
                <a:sym typeface="Helvetica"/>
              </a:defRPr>
            </a:pPr>
            <a:r>
              <a:t>Need to have diverse data &amp; auditing</a:t>
            </a:r>
          </a:p>
        </p:txBody>
      </p:sp>
      <p:grpSp>
        <p:nvGrpSpPr>
          <p:cNvPr id="143" name="Group"/>
          <p:cNvGrpSpPr/>
          <p:nvPr/>
        </p:nvGrpSpPr>
        <p:grpSpPr>
          <a:xfrm>
            <a:off x="1057634" y="291333"/>
            <a:ext cx="6803103" cy="681303"/>
            <a:chOff x="0" y="0"/>
            <a:chExt cx="6803101" cy="681302"/>
          </a:xfrm>
        </p:grpSpPr>
        <p:sp>
          <p:nvSpPr>
            <p:cNvPr id="141" name="Google Shape;84;p17"/>
            <p:cNvSpPr/>
            <p:nvPr/>
          </p:nvSpPr>
          <p:spPr>
            <a:xfrm>
              <a:off x="0" y="-1"/>
              <a:ext cx="6803103" cy="681304"/>
            </a:xfrm>
            <a:prstGeom prst="rect">
              <a:avLst/>
            </a:prstGeom>
            <a:noFill/>
            <a:ln w="38100" cap="flat">
              <a:solidFill>
                <a:srgbClr val="6792C7"/>
              </a:solidFill>
              <a:prstDash val="solid"/>
              <a:round/>
            </a:ln>
            <a:effectLst/>
          </p:spPr>
          <p:txBody>
            <a:bodyPr wrap="square" lIns="0" tIns="0" rIns="0" bIns="0" numCol="1" anchor="ctr">
              <a:noAutofit/>
            </a:bodyPr>
            <a:lstStyle/>
            <a:p>
              <a:pPr algn="r">
                <a:defRPr>
                  <a:latin typeface="+mn-lt"/>
                  <a:ea typeface="+mn-ea"/>
                  <a:cs typeface="+mn-cs"/>
                  <a:sym typeface="Arial"/>
                </a:defRPr>
              </a:pPr>
            </a:p>
          </p:txBody>
        </p:sp>
        <p:sp>
          <p:nvSpPr>
            <p:cNvPr id="142" name="Google Shape;82;p17"/>
            <p:cNvSpPr txBox="1"/>
            <p:nvPr/>
          </p:nvSpPr>
          <p:spPr>
            <a:xfrm>
              <a:off x="1341110" y="54300"/>
              <a:ext cx="3882342" cy="5727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t">
              <a:normAutofit fontScale="100000" lnSpcReduction="0"/>
            </a:bodyPr>
            <a:lstStyle>
              <a:lvl1pPr algn="ctr">
                <a:defRPr sz="2500">
                  <a:solidFill>
                    <a:srgbClr val="EF8B67"/>
                  </a:solidFill>
                  <a:latin typeface="+mn-lt"/>
                  <a:ea typeface="+mn-ea"/>
                  <a:cs typeface="+mn-cs"/>
                  <a:sym typeface="Arial"/>
                </a:defRPr>
              </a:lvl1pPr>
            </a:lstStyle>
            <a:p>
              <a:pPr/>
              <a:r>
                <a:t>Limitations &amp; Risks</a:t>
              </a:r>
            </a:p>
          </p:txBody>
        </p:sp>
      </p:grpSp>
      <p:pic>
        <p:nvPicPr>
          <p:cNvPr id="144" name="images.jpeg" descr="images.jpeg"/>
          <p:cNvPicPr>
            <a:picLocks noChangeAspect="1"/>
          </p:cNvPicPr>
          <p:nvPr/>
        </p:nvPicPr>
        <p:blipFill>
          <a:blip r:embed="rId2">
            <a:extLst/>
          </a:blip>
          <a:stretch>
            <a:fillRect/>
          </a:stretch>
        </p:blipFill>
        <p:spPr>
          <a:xfrm>
            <a:off x="6035716" y="1114425"/>
            <a:ext cx="2324101" cy="34925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46" name="Privacy:…"/>
          <p:cNvSpPr txBox="1"/>
          <p:nvPr>
            <p:ph type="body" idx="1"/>
          </p:nvPr>
        </p:nvSpPr>
        <p:spPr>
          <a:xfrm>
            <a:off x="176969" y="1027131"/>
            <a:ext cx="5103147" cy="4223637"/>
          </a:xfrm>
          <a:prstGeom prst="rect">
            <a:avLst/>
          </a:prstGeom>
        </p:spPr>
        <p:txBody>
          <a:bodyPr/>
          <a:lstStyle/>
          <a:p>
            <a:pPr marL="364792" indent="-247298" defTabSz="905255">
              <a:lnSpc>
                <a:spcPct val="110000"/>
              </a:lnSpc>
              <a:buClr>
                <a:schemeClr val="accent1">
                  <a:satOff val="-31580"/>
                  <a:lumOff val="-12156"/>
                </a:schemeClr>
              </a:buClr>
              <a:buSzPts val="1400"/>
              <a:buChar char="➔"/>
              <a:tabLst>
                <a:tab pos="38100" algn="r"/>
                <a:tab pos="127000" algn="l"/>
              </a:tabLst>
              <a:defRPr b="1" sz="1485">
                <a:solidFill>
                  <a:srgbClr val="806984"/>
                </a:solidFill>
              </a:defRPr>
            </a:pPr>
            <a:r>
              <a:rPr>
                <a:solidFill>
                  <a:srgbClr val="6792C7"/>
                </a:solidFill>
              </a:rPr>
              <a:t>Privacy</a:t>
            </a:r>
            <a:r>
              <a:rPr b="0"/>
              <a:t>:</a:t>
            </a:r>
          </a:p>
          <a:p>
            <a:pPr lvl="1" marL="785695" indent="-259767" defTabSz="905255">
              <a:lnSpc>
                <a:spcPct val="110000"/>
              </a:lnSpc>
              <a:buClr>
                <a:srgbClr val="6792C7"/>
              </a:buClr>
              <a:buSzPts val="1400"/>
              <a:tabLst>
                <a:tab pos="38100" algn="r"/>
                <a:tab pos="127000" algn="l"/>
              </a:tabLst>
              <a:defRPr sz="1485">
                <a:solidFill>
                  <a:srgbClr val="111111"/>
                </a:solidFill>
              </a:defRPr>
            </a:pPr>
            <a:r>
              <a:t>Collect only what’s needed, no third-party sharing</a:t>
            </a:r>
          </a:p>
          <a:p>
            <a:pPr lvl="1" marL="785695" indent="-259767" defTabSz="905255">
              <a:lnSpc>
                <a:spcPct val="110000"/>
              </a:lnSpc>
              <a:buClr>
                <a:srgbClr val="6792C7"/>
              </a:buClr>
              <a:buSzPts val="1400"/>
              <a:tabLst>
                <a:tab pos="38100" algn="r"/>
                <a:tab pos="127000" algn="l"/>
              </a:tabLst>
              <a:defRPr sz="1485">
                <a:solidFill>
                  <a:srgbClr val="111111"/>
                </a:solidFill>
              </a:defRPr>
            </a:pPr>
          </a:p>
          <a:p>
            <a:pPr marL="364792" indent="-247298" defTabSz="905255">
              <a:lnSpc>
                <a:spcPct val="110000"/>
              </a:lnSpc>
              <a:buClr>
                <a:srgbClr val="6792C7"/>
              </a:buClr>
              <a:buSzPts val="1400"/>
              <a:buChar char="➔"/>
              <a:tabLst>
                <a:tab pos="38100" algn="r"/>
                <a:tab pos="127000" algn="l"/>
              </a:tabLst>
              <a:defRPr b="1" sz="1485">
                <a:solidFill>
                  <a:srgbClr val="6792C7"/>
                </a:solidFill>
              </a:defRPr>
            </a:pPr>
            <a:r>
              <a:t>Transparency</a:t>
            </a:r>
            <a:r>
              <a:rPr b="0"/>
              <a:t>:</a:t>
            </a:r>
          </a:p>
          <a:p>
            <a:pPr lvl="1" marL="785695" indent="-259767" defTabSz="905255">
              <a:lnSpc>
                <a:spcPct val="110000"/>
              </a:lnSpc>
              <a:buClr>
                <a:srgbClr val="6792C7"/>
              </a:buClr>
              <a:buSzPts val="1400"/>
              <a:tabLst>
                <a:tab pos="38100" algn="r"/>
                <a:tab pos="127000" algn="l"/>
              </a:tabLst>
              <a:defRPr sz="1485">
                <a:solidFill>
                  <a:srgbClr val="111111"/>
                </a:solidFill>
              </a:defRPr>
            </a:pPr>
            <a:r>
              <a:t>Clear messaging that CalmStep is not therapy or a diagnosis</a:t>
            </a:r>
          </a:p>
          <a:p>
            <a:pPr lvl="1" marL="785695" indent="-259767" defTabSz="905255">
              <a:lnSpc>
                <a:spcPct val="110000"/>
              </a:lnSpc>
              <a:buClr>
                <a:srgbClr val="6792C7"/>
              </a:buClr>
              <a:buSzPts val="1400"/>
              <a:tabLst>
                <a:tab pos="38100" algn="r"/>
                <a:tab pos="127000" algn="l"/>
              </a:tabLst>
              <a:defRPr sz="1485">
                <a:solidFill>
                  <a:srgbClr val="111111"/>
                </a:solidFill>
              </a:defRPr>
            </a:pPr>
          </a:p>
          <a:p>
            <a:pPr marL="364792" indent="-247298" defTabSz="905255">
              <a:lnSpc>
                <a:spcPct val="110000"/>
              </a:lnSpc>
              <a:buClr>
                <a:srgbClr val="6792C7"/>
              </a:buClr>
              <a:buSzPts val="1400"/>
              <a:buChar char="➔"/>
              <a:tabLst>
                <a:tab pos="38100" algn="r"/>
                <a:tab pos="127000" algn="l"/>
              </a:tabLst>
              <a:defRPr b="1" sz="1485">
                <a:solidFill>
                  <a:srgbClr val="6792C7"/>
                </a:solidFill>
              </a:defRPr>
            </a:pPr>
            <a:r>
              <a:t>Fairness and Bias: </a:t>
            </a:r>
          </a:p>
          <a:p>
            <a:pPr lvl="1" marL="785695" indent="-259767" defTabSz="905255">
              <a:lnSpc>
                <a:spcPct val="110000"/>
              </a:lnSpc>
              <a:buClr>
                <a:srgbClr val="6792C7"/>
              </a:buClr>
              <a:buSzPts val="1400"/>
              <a:tabLst>
                <a:tab pos="38100" algn="r"/>
                <a:tab pos="127000" algn="l"/>
              </a:tabLst>
              <a:defRPr sz="1485">
                <a:solidFill>
                  <a:srgbClr val="111111"/>
                </a:solidFill>
              </a:defRPr>
            </a:pPr>
            <a:r>
              <a:t>Test NLP on diverse language styles </a:t>
            </a:r>
          </a:p>
          <a:p>
            <a:pPr lvl="1" marL="785695" indent="-259767" defTabSz="905255">
              <a:lnSpc>
                <a:spcPct val="110000"/>
              </a:lnSpc>
              <a:buClr>
                <a:srgbClr val="6792C7"/>
              </a:buClr>
              <a:buSzPts val="1400"/>
              <a:tabLst>
                <a:tab pos="38100" algn="r"/>
                <a:tab pos="127000" algn="l"/>
              </a:tabLst>
              <a:defRPr sz="1485">
                <a:solidFill>
                  <a:srgbClr val="111111"/>
                </a:solidFill>
              </a:defRPr>
            </a:pPr>
            <a:r>
              <a:t>Monitor misclassification</a:t>
            </a:r>
          </a:p>
          <a:p>
            <a:pPr lvl="1" marL="785695" indent="-259767" defTabSz="905255">
              <a:lnSpc>
                <a:spcPct val="110000"/>
              </a:lnSpc>
              <a:buClr>
                <a:srgbClr val="6792C7"/>
              </a:buClr>
              <a:buSzPts val="1400"/>
              <a:tabLst>
                <a:tab pos="38100" algn="r"/>
                <a:tab pos="127000" algn="l"/>
              </a:tabLst>
              <a:defRPr sz="1485">
                <a:solidFill>
                  <a:srgbClr val="111111"/>
                </a:solidFill>
              </a:defRPr>
            </a:pPr>
          </a:p>
          <a:p>
            <a:pPr marL="364792" indent="-247298" defTabSz="905255">
              <a:lnSpc>
                <a:spcPct val="110000"/>
              </a:lnSpc>
              <a:buClr>
                <a:srgbClr val="6792C7"/>
              </a:buClr>
              <a:buSzPts val="1400"/>
              <a:buChar char="➔"/>
              <a:tabLst>
                <a:tab pos="38100" algn="r"/>
                <a:tab pos="127000" algn="l"/>
              </a:tabLst>
              <a:defRPr b="1" sz="1485">
                <a:solidFill>
                  <a:srgbClr val="6792C7"/>
                </a:solidFill>
              </a:defRPr>
            </a:pPr>
            <a:r>
              <a:t>Safety Boundaries: </a:t>
            </a:r>
          </a:p>
          <a:p>
            <a:pPr lvl="1" marL="785695" indent="-259767" defTabSz="905255">
              <a:lnSpc>
                <a:spcPct val="110000"/>
              </a:lnSpc>
              <a:buClr>
                <a:srgbClr val="6792C7"/>
              </a:buClr>
              <a:buSzPts val="1400"/>
              <a:tabLst>
                <a:tab pos="38100" algn="r"/>
                <a:tab pos="127000" algn="l"/>
              </a:tabLst>
              <a:defRPr sz="1485">
                <a:solidFill>
                  <a:srgbClr val="111111"/>
                </a:solidFill>
              </a:defRPr>
            </a:pPr>
            <a:r>
              <a:t>Crisis or medical red flags will route to 988/emergency, not coping flows</a:t>
            </a:r>
          </a:p>
          <a:p>
            <a:pPr lvl="1" marL="785695" indent="-259767" defTabSz="905255">
              <a:lnSpc>
                <a:spcPct val="110000"/>
              </a:lnSpc>
              <a:buClr>
                <a:srgbClr val="6792C7"/>
              </a:buClr>
              <a:buSzPts val="1400"/>
              <a:tabLst>
                <a:tab pos="38100" algn="r"/>
                <a:tab pos="127000" algn="l"/>
              </a:tabLst>
              <a:defRPr sz="1485">
                <a:solidFill>
                  <a:srgbClr val="111111"/>
                </a:solidFill>
              </a:defRPr>
            </a:pPr>
          </a:p>
          <a:p>
            <a:pPr marL="364792" indent="-247298" defTabSz="905255">
              <a:lnSpc>
                <a:spcPct val="110000"/>
              </a:lnSpc>
              <a:buClr>
                <a:srgbClr val="6792C7"/>
              </a:buClr>
              <a:buSzPts val="1400"/>
              <a:buChar char="➔"/>
              <a:tabLst>
                <a:tab pos="38100" algn="r"/>
                <a:tab pos="127000" algn="l"/>
              </a:tabLst>
              <a:defRPr b="1" sz="1485">
                <a:solidFill>
                  <a:srgbClr val="6792C7"/>
                </a:solidFill>
              </a:defRPr>
            </a:pPr>
            <a:r>
              <a:t>User Control: </a:t>
            </a:r>
          </a:p>
          <a:p>
            <a:pPr lvl="1" marL="785695" indent="-259767" defTabSz="905255">
              <a:lnSpc>
                <a:spcPct val="110000"/>
              </a:lnSpc>
              <a:buClr>
                <a:srgbClr val="6792C7"/>
              </a:buClr>
              <a:buSzPts val="1400"/>
              <a:tabLst>
                <a:tab pos="38100" algn="r"/>
                <a:tab pos="127000" algn="l"/>
              </a:tabLst>
              <a:defRPr sz="1485">
                <a:solidFill>
                  <a:srgbClr val="111111"/>
                </a:solidFill>
              </a:defRPr>
            </a:pPr>
            <a:r>
              <a:t>Opt-in data, easy delete, no hidden tracking</a:t>
            </a:r>
          </a:p>
        </p:txBody>
      </p:sp>
      <p:grpSp>
        <p:nvGrpSpPr>
          <p:cNvPr id="149" name="Group"/>
          <p:cNvGrpSpPr/>
          <p:nvPr/>
        </p:nvGrpSpPr>
        <p:grpSpPr>
          <a:xfrm>
            <a:off x="938365" y="264828"/>
            <a:ext cx="6803103" cy="681303"/>
            <a:chOff x="0" y="0"/>
            <a:chExt cx="6803101" cy="681302"/>
          </a:xfrm>
        </p:grpSpPr>
        <p:sp>
          <p:nvSpPr>
            <p:cNvPr id="147" name="Google Shape;84;p17"/>
            <p:cNvSpPr/>
            <p:nvPr/>
          </p:nvSpPr>
          <p:spPr>
            <a:xfrm>
              <a:off x="0" y="-1"/>
              <a:ext cx="6803103" cy="681304"/>
            </a:xfrm>
            <a:prstGeom prst="rect">
              <a:avLst/>
            </a:prstGeom>
            <a:noFill/>
            <a:ln w="38100" cap="flat">
              <a:solidFill>
                <a:srgbClr val="EF8B67"/>
              </a:solidFill>
              <a:prstDash val="solid"/>
              <a:round/>
            </a:ln>
            <a:effectLst/>
          </p:spPr>
          <p:txBody>
            <a:bodyPr wrap="square" lIns="0" tIns="0" rIns="0" bIns="0" numCol="1" anchor="ctr">
              <a:noAutofit/>
            </a:bodyPr>
            <a:lstStyle/>
            <a:p>
              <a:pPr algn="r">
                <a:defRPr>
                  <a:latin typeface="+mn-lt"/>
                  <a:ea typeface="+mn-ea"/>
                  <a:cs typeface="+mn-cs"/>
                  <a:sym typeface="Arial"/>
                </a:defRPr>
              </a:pPr>
            </a:p>
          </p:txBody>
        </p:sp>
        <p:sp>
          <p:nvSpPr>
            <p:cNvPr id="148" name="Google Shape;82;p17"/>
            <p:cNvSpPr txBox="1"/>
            <p:nvPr/>
          </p:nvSpPr>
          <p:spPr>
            <a:xfrm>
              <a:off x="1341110" y="54300"/>
              <a:ext cx="3882342" cy="5727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t">
              <a:normAutofit fontScale="100000" lnSpcReduction="0"/>
            </a:bodyPr>
            <a:lstStyle>
              <a:lvl1pPr algn="ctr">
                <a:defRPr sz="2500">
                  <a:solidFill>
                    <a:srgbClr val="6792C7"/>
                  </a:solidFill>
                  <a:latin typeface="+mn-lt"/>
                  <a:ea typeface="+mn-ea"/>
                  <a:cs typeface="+mn-cs"/>
                  <a:sym typeface="Arial"/>
                </a:defRPr>
              </a:lvl1pPr>
            </a:lstStyle>
            <a:p>
              <a:pPr/>
              <a:r>
                <a:t>Ethics Overview</a:t>
              </a:r>
            </a:p>
          </p:txBody>
        </p:sp>
      </p:grpSp>
      <p:pic>
        <p:nvPicPr>
          <p:cNvPr id="150" name="images (1).jpeg" descr="images (1).jpeg"/>
          <p:cNvPicPr>
            <a:picLocks noChangeAspect="1"/>
          </p:cNvPicPr>
          <p:nvPr/>
        </p:nvPicPr>
        <p:blipFill>
          <a:blip r:embed="rId2">
            <a:extLst/>
          </a:blip>
          <a:stretch>
            <a:fillRect/>
          </a:stretch>
        </p:blipFill>
        <p:spPr>
          <a:xfrm>
            <a:off x="5345957" y="1541470"/>
            <a:ext cx="3492501" cy="232410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52" name="Google Shape;75;p16"/>
          <p:cNvSpPr txBox="1"/>
          <p:nvPr>
            <p:ph type="title"/>
          </p:nvPr>
        </p:nvSpPr>
        <p:spPr>
          <a:xfrm>
            <a:off x="311699" y="445025"/>
            <a:ext cx="8520602" cy="572702"/>
          </a:xfrm>
          <a:prstGeom prst="rect">
            <a:avLst/>
          </a:prstGeom>
        </p:spPr>
        <p:txBody>
          <a:bodyPr/>
          <a:lstStyle>
            <a:lvl1pPr algn="ctr">
              <a:defRPr sz="2500">
                <a:solidFill>
                  <a:srgbClr val="EF8B67"/>
                </a:solidFill>
              </a:defRPr>
            </a:lvl1pPr>
          </a:lstStyle>
          <a:p>
            <a:pPr/>
            <a:r>
              <a:t>Market Fit &amp; Target Users</a:t>
            </a:r>
          </a:p>
        </p:txBody>
      </p:sp>
      <p:sp>
        <p:nvSpPr>
          <p:cNvPr id="153" name="Google Shape;76;p16"/>
          <p:cNvSpPr txBox="1"/>
          <p:nvPr>
            <p:ph type="body" sz="half" idx="1"/>
          </p:nvPr>
        </p:nvSpPr>
        <p:spPr>
          <a:xfrm>
            <a:off x="311699" y="1152475"/>
            <a:ext cx="4285229" cy="3416400"/>
          </a:xfrm>
          <a:prstGeom prst="rect">
            <a:avLst/>
          </a:prstGeom>
        </p:spPr>
        <p:txBody>
          <a:bodyPr/>
          <a:lstStyle/>
          <a:p>
            <a:pPr marL="0" indent="0">
              <a:spcBef>
                <a:spcPts val="1200"/>
              </a:spcBef>
              <a:buSzTx/>
              <a:buNone/>
              <a:defRPr b="1" sz="1600">
                <a:solidFill>
                  <a:srgbClr val="EF8B67"/>
                </a:solidFill>
              </a:defRPr>
            </a:pPr>
            <a:r>
              <a:t>Target Users</a:t>
            </a:r>
          </a:p>
          <a:p>
            <a:pPr marL="435609" indent="-302259">
              <a:spcBef>
                <a:spcPts val="1200"/>
              </a:spcBef>
              <a:buClr>
                <a:srgbClr val="6792C7"/>
              </a:buClr>
              <a:buSzPts val="1400"/>
              <a:buChar char="➔"/>
              <a:defRPr sz="1400">
                <a:solidFill>
                  <a:srgbClr val="6792C7"/>
                </a:solidFill>
              </a:defRPr>
            </a:pPr>
            <a:r>
              <a:t>People who experience panic attacks or even milder symptoms, including racing heart or dizziness</a:t>
            </a:r>
          </a:p>
          <a:p>
            <a:pPr marL="435609" indent="-302259">
              <a:spcBef>
                <a:spcPts val="1200"/>
              </a:spcBef>
              <a:buClr>
                <a:srgbClr val="6792C7"/>
              </a:buClr>
              <a:buSzPts val="1400"/>
              <a:buChar char="➔"/>
              <a:defRPr sz="1400">
                <a:solidFill>
                  <a:srgbClr val="6792C7"/>
                </a:solidFill>
              </a:defRPr>
            </a:pPr>
            <a:r>
              <a:t>Workers who freeze during high stress moments (like before a big presentation)</a:t>
            </a:r>
          </a:p>
          <a:p>
            <a:pPr marL="435609" indent="-302259">
              <a:spcBef>
                <a:spcPts val="1200"/>
              </a:spcBef>
              <a:buClr>
                <a:srgbClr val="6792C7"/>
              </a:buClr>
              <a:buSzPts val="1400"/>
              <a:buChar char="➔"/>
              <a:defRPr sz="1400">
                <a:solidFill>
                  <a:srgbClr val="6792C7"/>
                </a:solidFill>
              </a:defRPr>
            </a:pPr>
            <a:r>
              <a:t>An added tool used with therapy in between sessions</a:t>
            </a:r>
          </a:p>
          <a:p>
            <a:pPr marL="435609" indent="-302259">
              <a:spcBef>
                <a:spcPts val="1200"/>
              </a:spcBef>
              <a:buClr>
                <a:srgbClr val="6792C7"/>
              </a:buClr>
              <a:buSzPts val="1400"/>
              <a:buChar char="➔"/>
              <a:defRPr sz="1400">
                <a:solidFill>
                  <a:srgbClr val="6792C7"/>
                </a:solidFill>
              </a:defRPr>
            </a:pPr>
            <a:r>
              <a:t>Regular people trying to track stress patterns or other anxiety related symptoms</a:t>
            </a:r>
          </a:p>
        </p:txBody>
      </p:sp>
      <p:sp>
        <p:nvSpPr>
          <p:cNvPr id="154" name="Google Shape;77;p16"/>
          <p:cNvSpPr/>
          <p:nvPr/>
        </p:nvSpPr>
        <p:spPr>
          <a:xfrm>
            <a:off x="1170450" y="390723"/>
            <a:ext cx="6803100" cy="681304"/>
          </a:xfrm>
          <a:prstGeom prst="rect">
            <a:avLst/>
          </a:prstGeom>
          <a:ln w="38100">
            <a:solidFill>
              <a:srgbClr val="6792C7"/>
            </a:solidFill>
          </a:ln>
        </p:spPr>
        <p:txBody>
          <a:bodyPr lIns="0" tIns="0" rIns="0" bIns="0" anchor="ctr"/>
          <a:lstStyle/>
          <a:p>
            <a:pPr algn="ctr">
              <a:defRPr>
                <a:latin typeface="+mn-lt"/>
                <a:ea typeface="+mn-ea"/>
                <a:cs typeface="+mn-cs"/>
                <a:sym typeface="Arial"/>
              </a:defRPr>
            </a:pPr>
          </a:p>
        </p:txBody>
      </p:sp>
      <p:pic>
        <p:nvPicPr>
          <p:cNvPr id="155" name="Stress-Cycle-Graphic-1.jpg" descr="Stress-Cycle-Graphic-1.jpg"/>
          <p:cNvPicPr>
            <a:picLocks noChangeAspect="1"/>
          </p:cNvPicPr>
          <p:nvPr/>
        </p:nvPicPr>
        <p:blipFill>
          <a:blip r:embed="rId2">
            <a:extLst/>
          </a:blip>
          <a:stretch>
            <a:fillRect/>
          </a:stretch>
        </p:blipFill>
        <p:spPr>
          <a:xfrm>
            <a:off x="5469902" y="1659893"/>
            <a:ext cx="2692327" cy="2692328"/>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57" name="Google Shape;75;p16"/>
          <p:cNvSpPr txBox="1"/>
          <p:nvPr>
            <p:ph type="title"/>
          </p:nvPr>
        </p:nvSpPr>
        <p:spPr>
          <a:xfrm>
            <a:off x="311699" y="445025"/>
            <a:ext cx="8520602" cy="572702"/>
          </a:xfrm>
          <a:prstGeom prst="rect">
            <a:avLst/>
          </a:prstGeom>
        </p:spPr>
        <p:txBody>
          <a:bodyPr/>
          <a:lstStyle>
            <a:lvl1pPr algn="ctr">
              <a:defRPr sz="2500">
                <a:solidFill>
                  <a:srgbClr val="EF8B67"/>
                </a:solidFill>
              </a:defRPr>
            </a:lvl1pPr>
          </a:lstStyle>
          <a:p>
            <a:pPr/>
            <a:r>
              <a:t>Why CalmStep Works</a:t>
            </a:r>
          </a:p>
        </p:txBody>
      </p:sp>
      <p:sp>
        <p:nvSpPr>
          <p:cNvPr id="158" name="Google Shape;76;p16"/>
          <p:cNvSpPr txBox="1"/>
          <p:nvPr>
            <p:ph type="body" sz="half" idx="1"/>
          </p:nvPr>
        </p:nvSpPr>
        <p:spPr>
          <a:xfrm>
            <a:off x="206140" y="1178864"/>
            <a:ext cx="4733694" cy="3627518"/>
          </a:xfrm>
          <a:prstGeom prst="rect">
            <a:avLst/>
          </a:prstGeom>
        </p:spPr>
        <p:txBody>
          <a:bodyPr/>
          <a:lstStyle/>
          <a:p>
            <a:pPr marL="364336" indent="-246988">
              <a:lnSpc>
                <a:spcPct val="135000"/>
              </a:lnSpc>
              <a:spcBef>
                <a:spcPts val="1000"/>
              </a:spcBef>
              <a:buClr>
                <a:srgbClr val="6792C7"/>
              </a:buClr>
              <a:buSzPts val="1100"/>
              <a:buChar char="➔"/>
              <a:tabLst>
                <a:tab pos="50800" algn="r"/>
                <a:tab pos="139700" algn="l"/>
              </a:tabLst>
              <a:defRPr sz="1144">
                <a:solidFill>
                  <a:srgbClr val="111111"/>
                </a:solidFill>
                <a:latin typeface="+mj-lt"/>
                <a:ea typeface="+mj-ea"/>
                <a:cs typeface="+mj-cs"/>
                <a:sym typeface="Helvetica"/>
              </a:defRPr>
            </a:pPr>
            <a:r>
              <a:t>There are a ton of other mental health apps out there but most of them focus on </a:t>
            </a:r>
            <a:r>
              <a:rPr>
                <a:latin typeface="Helvetica Neue"/>
                <a:ea typeface="Helvetica Neue"/>
                <a:cs typeface="Helvetica Neue"/>
                <a:sym typeface="Helvetica Neue"/>
              </a:rPr>
              <a:t>daily meditation</a:t>
            </a:r>
            <a:r>
              <a:t>, </a:t>
            </a:r>
            <a:r>
              <a:rPr>
                <a:latin typeface="Helvetica Neue"/>
                <a:ea typeface="Helvetica Neue"/>
                <a:cs typeface="Helvetica Neue"/>
                <a:sym typeface="Helvetica Neue"/>
              </a:rPr>
              <a:t>tracking</a:t>
            </a:r>
            <a:r>
              <a:t>, or </a:t>
            </a:r>
            <a:r>
              <a:rPr>
                <a:latin typeface="Helvetica Neue"/>
                <a:ea typeface="Helvetica Neue"/>
                <a:cs typeface="Helvetica Neue"/>
                <a:sym typeface="Helvetica Neue"/>
              </a:rPr>
              <a:t>long-term wellness</a:t>
            </a:r>
            <a:endParaRPr>
              <a:latin typeface="Helvetica Neue"/>
              <a:ea typeface="Helvetica Neue"/>
              <a:cs typeface="Helvetica Neue"/>
              <a:sym typeface="Helvetica Neue"/>
            </a:endParaRPr>
          </a:p>
          <a:p>
            <a:pPr marL="364336" indent="-246988">
              <a:lnSpc>
                <a:spcPct val="135000"/>
              </a:lnSpc>
              <a:spcBef>
                <a:spcPts val="1000"/>
              </a:spcBef>
              <a:buClr>
                <a:srgbClr val="6792C7"/>
              </a:buClr>
              <a:buSzPts val="1100"/>
              <a:buChar char="➔"/>
              <a:tabLst>
                <a:tab pos="50800" algn="r"/>
                <a:tab pos="139700" algn="l"/>
              </a:tabLst>
              <a:defRPr sz="1144">
                <a:solidFill>
                  <a:srgbClr val="111111"/>
                </a:solidFill>
                <a:latin typeface="+mj-lt"/>
                <a:ea typeface="+mj-ea"/>
                <a:cs typeface="+mj-cs"/>
                <a:sym typeface="Helvetica"/>
              </a:defRPr>
            </a:pPr>
            <a:r>
              <a:t>There’s a big gap for quick accessibly help</a:t>
            </a:r>
          </a:p>
          <a:p>
            <a:pPr marL="364336" indent="-246988">
              <a:lnSpc>
                <a:spcPct val="135000"/>
              </a:lnSpc>
              <a:spcBef>
                <a:spcPts val="1000"/>
              </a:spcBef>
              <a:buClr>
                <a:srgbClr val="6792C7"/>
              </a:buClr>
              <a:buSzPts val="1100"/>
              <a:buChar char="➔"/>
              <a:tabLst>
                <a:tab pos="50800" algn="r"/>
                <a:tab pos="139700" algn="l"/>
              </a:tabLst>
              <a:defRPr sz="1144">
                <a:solidFill>
                  <a:srgbClr val="111111"/>
                </a:solidFill>
                <a:latin typeface="+mj-lt"/>
                <a:ea typeface="+mj-ea"/>
                <a:cs typeface="+mj-cs"/>
                <a:sym typeface="Helvetica"/>
              </a:defRPr>
            </a:pPr>
            <a:r>
              <a:t>	CalmStep removes decision fatigue that can stop someone from getting help in the first place </a:t>
            </a:r>
          </a:p>
          <a:p>
            <a:pPr marL="364336" indent="-246988">
              <a:lnSpc>
                <a:spcPct val="135000"/>
              </a:lnSpc>
              <a:spcBef>
                <a:spcPts val="1000"/>
              </a:spcBef>
              <a:buClr>
                <a:srgbClr val="6792C7"/>
              </a:buClr>
              <a:buSzPts val="1100"/>
              <a:buChar char="➔"/>
              <a:tabLst>
                <a:tab pos="50800" algn="r"/>
                <a:tab pos="139700" algn="l"/>
              </a:tabLst>
              <a:defRPr sz="1144">
                <a:solidFill>
                  <a:srgbClr val="111111"/>
                </a:solidFill>
                <a:latin typeface="+mj-lt"/>
                <a:ea typeface="+mj-ea"/>
                <a:cs typeface="+mj-cs"/>
                <a:sym typeface="Helvetica"/>
              </a:defRPr>
            </a:pPr>
            <a:r>
              <a:t>Designed especially for “I’m overwhelmed </a:t>
            </a:r>
            <a:r>
              <a:rPr i="1"/>
              <a:t>right now</a:t>
            </a:r>
            <a:r>
              <a:t>” moments</a:t>
            </a:r>
          </a:p>
          <a:p>
            <a:pPr marL="364336" indent="-246988">
              <a:lnSpc>
                <a:spcPct val="135000"/>
              </a:lnSpc>
              <a:spcBef>
                <a:spcPts val="1000"/>
              </a:spcBef>
              <a:buClr>
                <a:srgbClr val="6792C7"/>
              </a:buClr>
              <a:buSzPts val="1100"/>
              <a:buChar char="➔"/>
              <a:tabLst>
                <a:tab pos="50800" algn="r"/>
                <a:tab pos="139700" algn="l"/>
              </a:tabLst>
              <a:defRPr sz="1144">
                <a:solidFill>
                  <a:srgbClr val="111111"/>
                </a:solidFill>
                <a:latin typeface="+mj-lt"/>
                <a:ea typeface="+mj-ea"/>
                <a:cs typeface="+mj-cs"/>
                <a:sym typeface="Helvetica"/>
              </a:defRPr>
            </a:pPr>
            <a:r>
              <a:t>	Competitors (Calm, Headspace, Happify, Moodfit) don’t specialize in acute panic supportPeople with drivers anxiety (on the move)</a:t>
            </a:r>
          </a:p>
          <a:p>
            <a:pPr marL="364336" indent="-246988">
              <a:lnSpc>
                <a:spcPct val="135000"/>
              </a:lnSpc>
              <a:spcBef>
                <a:spcPts val="1000"/>
              </a:spcBef>
              <a:buClr>
                <a:srgbClr val="6792C7"/>
              </a:buClr>
              <a:buSzPts val="1100"/>
              <a:buChar char="➔"/>
              <a:tabLst>
                <a:tab pos="50800" algn="r"/>
                <a:tab pos="139700" algn="l"/>
              </a:tabLst>
              <a:defRPr sz="1144">
                <a:solidFill>
                  <a:srgbClr val="111111"/>
                </a:solidFill>
                <a:latin typeface="+mj-lt"/>
                <a:ea typeface="+mj-ea"/>
                <a:cs typeface="+mj-cs"/>
                <a:sym typeface="Helvetica"/>
              </a:defRPr>
            </a:pPr>
            <a:r>
              <a:t>Any one can use it because everyone has moments when they feel like they lose control and need help now</a:t>
            </a:r>
          </a:p>
        </p:txBody>
      </p:sp>
      <p:sp>
        <p:nvSpPr>
          <p:cNvPr id="159" name="Google Shape;77;p16"/>
          <p:cNvSpPr/>
          <p:nvPr/>
        </p:nvSpPr>
        <p:spPr>
          <a:xfrm>
            <a:off x="1170450" y="390723"/>
            <a:ext cx="6803100" cy="681304"/>
          </a:xfrm>
          <a:prstGeom prst="rect">
            <a:avLst/>
          </a:prstGeom>
          <a:ln w="38100">
            <a:solidFill>
              <a:srgbClr val="6792C7"/>
            </a:solidFill>
          </a:ln>
        </p:spPr>
        <p:txBody>
          <a:bodyPr lIns="0" tIns="0" rIns="0" bIns="0" anchor="ctr"/>
          <a:lstStyle/>
          <a:p>
            <a:pPr algn="ctr">
              <a:defRPr>
                <a:latin typeface="+mn-lt"/>
                <a:ea typeface="+mn-ea"/>
                <a:cs typeface="+mn-cs"/>
                <a:sym typeface="Arial"/>
              </a:defRPr>
            </a:pPr>
          </a:p>
        </p:txBody>
      </p:sp>
      <p:pic>
        <p:nvPicPr>
          <p:cNvPr id="160" name="fpsyg-15-1347336-g001.png" descr="fpsyg-15-1347336-g001.png"/>
          <p:cNvPicPr>
            <a:picLocks noChangeAspect="1"/>
          </p:cNvPicPr>
          <p:nvPr/>
        </p:nvPicPr>
        <p:blipFill>
          <a:blip r:embed="rId2">
            <a:extLst/>
          </a:blip>
          <a:stretch>
            <a:fillRect/>
          </a:stretch>
        </p:blipFill>
        <p:spPr>
          <a:xfrm>
            <a:off x="5116661" y="1283020"/>
            <a:ext cx="3809228" cy="206089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BF5EE"/>
        </a:solidFill>
      </p:bgPr>
    </p:bg>
    <p:spTree>
      <p:nvGrpSpPr>
        <p:cNvPr id="1" name=""/>
        <p:cNvGrpSpPr/>
        <p:nvPr/>
      </p:nvGrpSpPr>
      <p:grpSpPr>
        <a:xfrm>
          <a:off x="0" y="0"/>
          <a:ext cx="0" cy="0"/>
          <a:chOff x="0" y="0"/>
          <a:chExt cx="0" cy="0"/>
        </a:xfrm>
      </p:grpSpPr>
      <p:sp>
        <p:nvSpPr>
          <p:cNvPr id="162" name="Google Shape;75;p16"/>
          <p:cNvSpPr txBox="1"/>
          <p:nvPr>
            <p:ph type="title"/>
          </p:nvPr>
        </p:nvSpPr>
        <p:spPr>
          <a:xfrm>
            <a:off x="311699" y="445025"/>
            <a:ext cx="8520602" cy="572702"/>
          </a:xfrm>
          <a:prstGeom prst="rect">
            <a:avLst/>
          </a:prstGeom>
        </p:spPr>
        <p:txBody>
          <a:bodyPr/>
          <a:lstStyle>
            <a:lvl1pPr algn="ctr">
              <a:defRPr sz="2500">
                <a:solidFill>
                  <a:srgbClr val="EF8B67"/>
                </a:solidFill>
              </a:defRPr>
            </a:lvl1pPr>
          </a:lstStyle>
          <a:p>
            <a:pPr/>
            <a:r>
              <a:t>Ethical Use Statement</a:t>
            </a:r>
          </a:p>
        </p:txBody>
      </p:sp>
      <p:sp>
        <p:nvSpPr>
          <p:cNvPr id="163" name="Google Shape;76;p16"/>
          <p:cNvSpPr txBox="1"/>
          <p:nvPr>
            <p:ph type="body" sz="half" idx="1"/>
          </p:nvPr>
        </p:nvSpPr>
        <p:spPr>
          <a:xfrm>
            <a:off x="311699" y="1470527"/>
            <a:ext cx="8520602" cy="1905654"/>
          </a:xfrm>
          <a:prstGeom prst="rect">
            <a:avLst/>
          </a:prstGeom>
        </p:spPr>
        <p:txBody>
          <a:bodyPr/>
          <a:lstStyle>
            <a:lvl1pPr marL="145287" indent="-145287" algn="ctr">
              <a:lnSpc>
                <a:spcPct val="135000"/>
              </a:lnSpc>
              <a:spcBef>
                <a:spcPts val="1000"/>
              </a:spcBef>
              <a:buSzTx/>
              <a:buNone/>
              <a:tabLst>
                <a:tab pos="50800" algn="r"/>
                <a:tab pos="139700" algn="l"/>
              </a:tabLst>
              <a:defRPr sz="1400">
                <a:solidFill>
                  <a:srgbClr val="6792C7"/>
                </a:solidFill>
                <a:latin typeface="+mj-lt"/>
                <a:ea typeface="+mj-ea"/>
                <a:cs typeface="+mj-cs"/>
                <a:sym typeface="Helvetica"/>
              </a:defRPr>
            </a:lvl1pPr>
          </a:lstStyle>
          <a:p>
            <a:pPr/>
            <a:r>
              <a:t>CalmStep is an AI-assisted wellness tool designed to support users through moments of sudden panic, anxiety or overwhelm. It does not diagnose conditions, replace therapy, or function as an emergency service. All data collection is options, minimal and under user control. The system uses a simple, explainable AI model and adheres to strict privacy, safety, and fairness guidelines. Any indication of crisis or medical risk redirects users to appropriate emergency resources. </a:t>
            </a:r>
          </a:p>
        </p:txBody>
      </p:sp>
      <p:sp>
        <p:nvSpPr>
          <p:cNvPr id="164" name="Google Shape;77;p16"/>
          <p:cNvSpPr/>
          <p:nvPr/>
        </p:nvSpPr>
        <p:spPr>
          <a:xfrm>
            <a:off x="1170450" y="390723"/>
            <a:ext cx="6803100" cy="681304"/>
          </a:xfrm>
          <a:prstGeom prst="rect">
            <a:avLst/>
          </a:prstGeom>
          <a:ln w="38100">
            <a:solidFill>
              <a:srgbClr val="6792C7"/>
            </a:solidFill>
          </a:ln>
        </p:spPr>
        <p:txBody>
          <a:bodyPr lIns="0" tIns="0" rIns="0" bIns="0" anchor="ctr"/>
          <a:lstStyle/>
          <a:p>
            <a:pPr algn="ctr">
              <a:defRPr>
                <a:latin typeface="+mn-lt"/>
                <a:ea typeface="+mn-ea"/>
                <a:cs typeface="+mn-cs"/>
                <a:sym typeface="Arial"/>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8EA"/>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8EA"/>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8EA"/>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